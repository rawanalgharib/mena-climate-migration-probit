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88" r:id="rId5"/>
    <p:sldId id="259" r:id="rId6"/>
    <p:sldId id="289" r:id="rId7"/>
    <p:sldId id="290" r:id="rId8"/>
    <p:sldId id="297" r:id="rId9"/>
    <p:sldId id="299" r:id="rId10"/>
    <p:sldId id="260" r:id="rId11"/>
    <p:sldId id="291" r:id="rId12"/>
    <p:sldId id="298" r:id="rId13"/>
    <p:sldId id="292" r:id="rId14"/>
    <p:sldId id="293" r:id="rId15"/>
    <p:sldId id="294" r:id="rId16"/>
    <p:sldId id="295" r:id="rId17"/>
    <p:sldId id="29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E40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85939" autoAdjust="0"/>
  </p:normalViewPr>
  <p:slideViewPr>
    <p:cSldViewPr snapToGrid="0">
      <p:cViewPr>
        <p:scale>
          <a:sx n="71" d="100"/>
          <a:sy n="71" d="100"/>
        </p:scale>
        <p:origin x="1147"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66BD66-554E-4367-988D-F82F2E0CD460}" type="datetimeFigureOut">
              <a:rPr lang="en-US" smtClean="0"/>
              <a:t>3/8/2026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26E62-D8D7-4213-8592-5F443072F2FD}" type="slidenum">
              <a:rPr lang="en-US" smtClean="0"/>
              <a:t>‹#›</a:t>
            </a:fld>
            <a:endParaRPr lang="en-US"/>
          </a:p>
        </p:txBody>
      </p:sp>
    </p:spTree>
    <p:extLst>
      <p:ext uri="{BB962C8B-B14F-4D97-AF65-F5344CB8AC3E}">
        <p14:creationId xmlns:p14="http://schemas.microsoft.com/office/powerpoint/2010/main" val="2840529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26E62-D8D7-4213-8592-5F443072F2FD}" type="slidenum">
              <a:rPr lang="en-US" smtClean="0"/>
              <a:t>1</a:t>
            </a:fld>
            <a:endParaRPr lang="en-US"/>
          </a:p>
        </p:txBody>
      </p:sp>
    </p:spTree>
    <p:extLst>
      <p:ext uri="{BB962C8B-B14F-4D97-AF65-F5344CB8AC3E}">
        <p14:creationId xmlns:p14="http://schemas.microsoft.com/office/powerpoint/2010/main" val="1889085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26E62-D8D7-4213-8592-5F443072F2FD}" type="slidenum">
              <a:rPr lang="en-US" smtClean="0"/>
              <a:t>2</a:t>
            </a:fld>
            <a:endParaRPr lang="en-US"/>
          </a:p>
        </p:txBody>
      </p:sp>
    </p:spTree>
    <p:extLst>
      <p:ext uri="{BB962C8B-B14F-4D97-AF65-F5344CB8AC3E}">
        <p14:creationId xmlns:p14="http://schemas.microsoft.com/office/powerpoint/2010/main" val="1509872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26E62-D8D7-4213-8592-5F443072F2FD}" type="slidenum">
              <a:rPr lang="en-US" smtClean="0"/>
              <a:t>3</a:t>
            </a:fld>
            <a:endParaRPr lang="en-US"/>
          </a:p>
        </p:txBody>
      </p:sp>
    </p:spTree>
    <p:extLst>
      <p:ext uri="{BB962C8B-B14F-4D97-AF65-F5344CB8AC3E}">
        <p14:creationId xmlns:p14="http://schemas.microsoft.com/office/powerpoint/2010/main" val="3789960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26E62-D8D7-4213-8592-5F443072F2FD}" type="slidenum">
              <a:rPr lang="en-US" smtClean="0"/>
              <a:t>4</a:t>
            </a:fld>
            <a:endParaRPr lang="en-US"/>
          </a:p>
        </p:txBody>
      </p:sp>
    </p:spTree>
    <p:extLst>
      <p:ext uri="{BB962C8B-B14F-4D97-AF65-F5344CB8AC3E}">
        <p14:creationId xmlns:p14="http://schemas.microsoft.com/office/powerpoint/2010/main" val="1483294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26E62-D8D7-4213-8592-5F443072F2FD}" type="slidenum">
              <a:rPr lang="en-US" smtClean="0"/>
              <a:t>5</a:t>
            </a:fld>
            <a:endParaRPr lang="en-US"/>
          </a:p>
        </p:txBody>
      </p:sp>
    </p:spTree>
    <p:extLst>
      <p:ext uri="{BB962C8B-B14F-4D97-AF65-F5344CB8AC3E}">
        <p14:creationId xmlns:p14="http://schemas.microsoft.com/office/powerpoint/2010/main" val="2239135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26E62-D8D7-4213-8592-5F443072F2FD}" type="slidenum">
              <a:rPr lang="en-US" smtClean="0"/>
              <a:t>6</a:t>
            </a:fld>
            <a:endParaRPr lang="en-US"/>
          </a:p>
        </p:txBody>
      </p:sp>
    </p:spTree>
    <p:extLst>
      <p:ext uri="{BB962C8B-B14F-4D97-AF65-F5344CB8AC3E}">
        <p14:creationId xmlns:p14="http://schemas.microsoft.com/office/powerpoint/2010/main" val="2740499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26E62-D8D7-4213-8592-5F443072F2FD}" type="slidenum">
              <a:rPr lang="en-US" smtClean="0"/>
              <a:t>7</a:t>
            </a:fld>
            <a:endParaRPr lang="en-US"/>
          </a:p>
        </p:txBody>
      </p:sp>
    </p:spTree>
    <p:extLst>
      <p:ext uri="{BB962C8B-B14F-4D97-AF65-F5344CB8AC3E}">
        <p14:creationId xmlns:p14="http://schemas.microsoft.com/office/powerpoint/2010/main" val="194065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26E62-D8D7-4213-8592-5F443072F2FD}" type="slidenum">
              <a:rPr lang="en-US" smtClean="0"/>
              <a:t>13</a:t>
            </a:fld>
            <a:endParaRPr lang="en-US"/>
          </a:p>
        </p:txBody>
      </p:sp>
    </p:spTree>
    <p:extLst>
      <p:ext uri="{BB962C8B-B14F-4D97-AF65-F5344CB8AC3E}">
        <p14:creationId xmlns:p14="http://schemas.microsoft.com/office/powerpoint/2010/main" val="2708812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26E62-D8D7-4213-8592-5F443072F2FD}" type="slidenum">
              <a:rPr lang="en-US" smtClean="0"/>
              <a:t>16</a:t>
            </a:fld>
            <a:endParaRPr lang="en-US"/>
          </a:p>
        </p:txBody>
      </p:sp>
    </p:spTree>
    <p:extLst>
      <p:ext uri="{BB962C8B-B14F-4D97-AF65-F5344CB8AC3E}">
        <p14:creationId xmlns:p14="http://schemas.microsoft.com/office/powerpoint/2010/main" val="2026917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C26E62-D8D7-4213-8592-5F443072F2FD}" type="slidenum">
              <a:rPr lang="en-US" smtClean="0"/>
              <a:t>17</a:t>
            </a:fld>
            <a:endParaRPr lang="en-US"/>
          </a:p>
        </p:txBody>
      </p:sp>
    </p:spTree>
    <p:extLst>
      <p:ext uri="{BB962C8B-B14F-4D97-AF65-F5344CB8AC3E}">
        <p14:creationId xmlns:p14="http://schemas.microsoft.com/office/powerpoint/2010/main" val="2719012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B3F7-C8D9-C0B3-D5DB-E6844AF397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FEB898-64CA-E704-09D7-E2F99EF1AB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2AE233-D656-7597-B954-708E0CE4BC35}"/>
              </a:ext>
            </a:extLst>
          </p:cNvPr>
          <p:cNvSpPr>
            <a:spLocks noGrp="1"/>
          </p:cNvSpPr>
          <p:nvPr>
            <p:ph type="dt" sz="half" idx="10"/>
          </p:nvPr>
        </p:nvSpPr>
        <p:spPr/>
        <p:txBody>
          <a:bodyPr/>
          <a:lstStyle/>
          <a:p>
            <a:fld id="{2ED65703-C902-48C7-8271-D015BF66A54B}" type="datetime1">
              <a:rPr lang="en-US" smtClean="0"/>
              <a:t>3/8/2026</a:t>
            </a:fld>
            <a:endParaRPr lang="en-US"/>
          </a:p>
        </p:txBody>
      </p:sp>
      <p:sp>
        <p:nvSpPr>
          <p:cNvPr id="5" name="Footer Placeholder 4">
            <a:extLst>
              <a:ext uri="{FF2B5EF4-FFF2-40B4-BE49-F238E27FC236}">
                <a16:creationId xmlns:a16="http://schemas.microsoft.com/office/drawing/2014/main" id="{B657AE1E-87A0-461C-176B-FFEECAE1B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2D0D95-6126-C732-B0CC-C83AB5B001C2}"/>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1164544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00920-F913-B1D2-09D0-1672CEB274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249369-3DDC-4BE2-F01A-9A06D48101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7A5F62-1246-2ACA-ADB8-7063C6C1E090}"/>
              </a:ext>
            </a:extLst>
          </p:cNvPr>
          <p:cNvSpPr>
            <a:spLocks noGrp="1"/>
          </p:cNvSpPr>
          <p:nvPr>
            <p:ph type="dt" sz="half" idx="10"/>
          </p:nvPr>
        </p:nvSpPr>
        <p:spPr/>
        <p:txBody>
          <a:bodyPr/>
          <a:lstStyle/>
          <a:p>
            <a:fld id="{599D0FAE-F26B-4799-9EEC-27E197123D0A}" type="datetime1">
              <a:rPr lang="en-US" smtClean="0"/>
              <a:t>3/8/2026</a:t>
            </a:fld>
            <a:endParaRPr lang="en-US"/>
          </a:p>
        </p:txBody>
      </p:sp>
      <p:sp>
        <p:nvSpPr>
          <p:cNvPr id="5" name="Footer Placeholder 4">
            <a:extLst>
              <a:ext uri="{FF2B5EF4-FFF2-40B4-BE49-F238E27FC236}">
                <a16:creationId xmlns:a16="http://schemas.microsoft.com/office/drawing/2014/main" id="{C77F17AC-84DA-E6AD-647A-7CE4F30A68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35BD6E-7684-6001-B6A6-97C855B9AAEA}"/>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1795855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0628A-81E7-1FCF-9973-833643358D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7D362B-4A72-1171-D565-B3F0CAEA63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47EC3A-20A9-A43C-2C77-267919E2F848}"/>
              </a:ext>
            </a:extLst>
          </p:cNvPr>
          <p:cNvSpPr>
            <a:spLocks noGrp="1"/>
          </p:cNvSpPr>
          <p:nvPr>
            <p:ph type="dt" sz="half" idx="10"/>
          </p:nvPr>
        </p:nvSpPr>
        <p:spPr/>
        <p:txBody>
          <a:bodyPr/>
          <a:lstStyle/>
          <a:p>
            <a:fld id="{02D8DB63-E569-4DFD-9123-81EBA18AB30E}" type="datetime1">
              <a:rPr lang="en-US" smtClean="0"/>
              <a:t>3/8/2026</a:t>
            </a:fld>
            <a:endParaRPr lang="en-US"/>
          </a:p>
        </p:txBody>
      </p:sp>
      <p:sp>
        <p:nvSpPr>
          <p:cNvPr id="5" name="Footer Placeholder 4">
            <a:extLst>
              <a:ext uri="{FF2B5EF4-FFF2-40B4-BE49-F238E27FC236}">
                <a16:creationId xmlns:a16="http://schemas.microsoft.com/office/drawing/2014/main" id="{5B488FC7-000B-73E9-2B4E-802CABDC92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3626F-C1DD-EE7E-7CB1-41EE703122B1}"/>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1303086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012A2-55A8-24B2-8F6F-74F4732B13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BCD84C-07F0-C6A2-79CD-210443EC61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3D99F6-0767-66E9-A134-BD8C2672E1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87FD2F-1BCF-7663-C2EA-418F4AFB92E5}"/>
              </a:ext>
            </a:extLst>
          </p:cNvPr>
          <p:cNvSpPr>
            <a:spLocks noGrp="1"/>
          </p:cNvSpPr>
          <p:nvPr>
            <p:ph type="dt" sz="half" idx="10"/>
          </p:nvPr>
        </p:nvSpPr>
        <p:spPr/>
        <p:txBody>
          <a:bodyPr/>
          <a:lstStyle/>
          <a:p>
            <a:fld id="{333238A0-7BD7-4D63-9AB4-5172675A07F0}" type="datetime1">
              <a:rPr lang="en-US" smtClean="0"/>
              <a:t>3/8/2026</a:t>
            </a:fld>
            <a:endParaRPr lang="en-US"/>
          </a:p>
        </p:txBody>
      </p:sp>
      <p:sp>
        <p:nvSpPr>
          <p:cNvPr id="6" name="Footer Placeholder 5">
            <a:extLst>
              <a:ext uri="{FF2B5EF4-FFF2-40B4-BE49-F238E27FC236}">
                <a16:creationId xmlns:a16="http://schemas.microsoft.com/office/drawing/2014/main" id="{9E7B480D-3A54-6C6A-606D-269C8CA141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6C5AF8-3DE2-AF20-B827-A4BF6149D511}"/>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2429817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88DE4-4150-BFAD-B498-C84D6BC435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46E81B-4810-0615-7869-1CA962FE89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5D4495-CDA2-ACC5-57A9-F60050EBFF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3DF7D4-DFE2-45C7-7230-563009B403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279C30-4EB4-5F5F-DD5C-2FE8E8617C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69ADAF-C4A0-6B81-DBA0-D292998A08F4}"/>
              </a:ext>
            </a:extLst>
          </p:cNvPr>
          <p:cNvSpPr>
            <a:spLocks noGrp="1"/>
          </p:cNvSpPr>
          <p:nvPr>
            <p:ph type="dt" sz="half" idx="10"/>
          </p:nvPr>
        </p:nvSpPr>
        <p:spPr/>
        <p:txBody>
          <a:bodyPr/>
          <a:lstStyle/>
          <a:p>
            <a:fld id="{A6AE2904-19FC-4811-A6BE-8755E678EDC3}" type="datetime1">
              <a:rPr lang="en-US" smtClean="0"/>
              <a:t>3/8/2026</a:t>
            </a:fld>
            <a:endParaRPr lang="en-US"/>
          </a:p>
        </p:txBody>
      </p:sp>
      <p:sp>
        <p:nvSpPr>
          <p:cNvPr id="8" name="Footer Placeholder 7">
            <a:extLst>
              <a:ext uri="{FF2B5EF4-FFF2-40B4-BE49-F238E27FC236}">
                <a16:creationId xmlns:a16="http://schemas.microsoft.com/office/drawing/2014/main" id="{35006895-1DEA-9A17-AC6C-41182E1721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045D5E-E43D-746D-3AB5-CA420BC59C88}"/>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3496581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09795-46B3-FC88-FF3E-A10422C1B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5FAB07-3E5C-C7FD-AEBC-BEF0FD1966D0}"/>
              </a:ext>
            </a:extLst>
          </p:cNvPr>
          <p:cNvSpPr>
            <a:spLocks noGrp="1"/>
          </p:cNvSpPr>
          <p:nvPr>
            <p:ph type="dt" sz="half" idx="10"/>
          </p:nvPr>
        </p:nvSpPr>
        <p:spPr/>
        <p:txBody>
          <a:bodyPr/>
          <a:lstStyle/>
          <a:p>
            <a:fld id="{674A274D-5B9C-4FF5-ABAE-0177F90C8BA1}" type="datetime1">
              <a:rPr lang="en-US" smtClean="0"/>
              <a:t>3/8/2026</a:t>
            </a:fld>
            <a:endParaRPr lang="en-US"/>
          </a:p>
        </p:txBody>
      </p:sp>
      <p:sp>
        <p:nvSpPr>
          <p:cNvPr id="4" name="Footer Placeholder 3">
            <a:extLst>
              <a:ext uri="{FF2B5EF4-FFF2-40B4-BE49-F238E27FC236}">
                <a16:creationId xmlns:a16="http://schemas.microsoft.com/office/drawing/2014/main" id="{B99B9077-6545-9AD9-28AD-41C332F41A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CA67FF-395C-865F-A932-27D7E700E536}"/>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385883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4081CE-B112-7986-781D-D8FA9DF37A95}"/>
              </a:ext>
            </a:extLst>
          </p:cNvPr>
          <p:cNvSpPr>
            <a:spLocks noGrp="1"/>
          </p:cNvSpPr>
          <p:nvPr>
            <p:ph type="dt" sz="half" idx="10"/>
          </p:nvPr>
        </p:nvSpPr>
        <p:spPr/>
        <p:txBody>
          <a:bodyPr/>
          <a:lstStyle/>
          <a:p>
            <a:fld id="{FE690601-CD3C-4FA1-8CA2-A12EF513525B}" type="datetime1">
              <a:rPr lang="en-US" smtClean="0"/>
              <a:t>3/8/2026</a:t>
            </a:fld>
            <a:endParaRPr lang="en-US"/>
          </a:p>
        </p:txBody>
      </p:sp>
      <p:sp>
        <p:nvSpPr>
          <p:cNvPr id="3" name="Footer Placeholder 2">
            <a:extLst>
              <a:ext uri="{FF2B5EF4-FFF2-40B4-BE49-F238E27FC236}">
                <a16:creationId xmlns:a16="http://schemas.microsoft.com/office/drawing/2014/main" id="{B6DDA948-09AD-663A-54CE-F1AAA7415D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699F7C-9187-9D71-B9D0-836265BE6AF8}"/>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3933520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BA78A-A01D-E929-7898-FEF483DCF6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07D6C7-4D7E-3627-613E-7B8244E2B8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501565-34EB-30B8-EC41-CFD8EB07F8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1DEA6B-3177-1236-1870-67C13974C68E}"/>
              </a:ext>
            </a:extLst>
          </p:cNvPr>
          <p:cNvSpPr>
            <a:spLocks noGrp="1"/>
          </p:cNvSpPr>
          <p:nvPr>
            <p:ph type="dt" sz="half" idx="10"/>
          </p:nvPr>
        </p:nvSpPr>
        <p:spPr/>
        <p:txBody>
          <a:bodyPr/>
          <a:lstStyle/>
          <a:p>
            <a:fld id="{452C9E1A-7BCE-4F05-B908-5A1FFB57505A}" type="datetime1">
              <a:rPr lang="en-US" smtClean="0"/>
              <a:t>3/8/2026</a:t>
            </a:fld>
            <a:endParaRPr lang="en-US"/>
          </a:p>
        </p:txBody>
      </p:sp>
      <p:sp>
        <p:nvSpPr>
          <p:cNvPr id="6" name="Footer Placeholder 5">
            <a:extLst>
              <a:ext uri="{FF2B5EF4-FFF2-40B4-BE49-F238E27FC236}">
                <a16:creationId xmlns:a16="http://schemas.microsoft.com/office/drawing/2014/main" id="{A09E6A73-FAE9-1E64-A0E2-A5E2A6A4C2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23A025-21B2-7290-97A3-2BCA465FDC11}"/>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2105301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C4C5E-D2B8-03D9-4284-380431CDB8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15EA21-EF6B-B644-1C70-8BC2B71898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0FAFC7-36F3-659C-B8D5-0B0D006E7D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2DAE2F-6087-D5E4-BBDE-AF16975AFD92}"/>
              </a:ext>
            </a:extLst>
          </p:cNvPr>
          <p:cNvSpPr>
            <a:spLocks noGrp="1"/>
          </p:cNvSpPr>
          <p:nvPr>
            <p:ph type="dt" sz="half" idx="10"/>
          </p:nvPr>
        </p:nvSpPr>
        <p:spPr/>
        <p:txBody>
          <a:bodyPr/>
          <a:lstStyle/>
          <a:p>
            <a:fld id="{11AA89CD-08F5-4926-BAC4-E021F2B957DD}" type="datetime1">
              <a:rPr lang="en-US" smtClean="0"/>
              <a:t>3/8/2026</a:t>
            </a:fld>
            <a:endParaRPr lang="en-US"/>
          </a:p>
        </p:txBody>
      </p:sp>
      <p:sp>
        <p:nvSpPr>
          <p:cNvPr id="6" name="Footer Placeholder 5">
            <a:extLst>
              <a:ext uri="{FF2B5EF4-FFF2-40B4-BE49-F238E27FC236}">
                <a16:creationId xmlns:a16="http://schemas.microsoft.com/office/drawing/2014/main" id="{04B878EB-C341-6A8F-A704-B304C66D40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09AC2-D0F7-D20B-DCBE-0DC23324E93F}"/>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3704573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863B-DD40-7211-DF11-960EEF01AF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E038AB-1146-197C-A1CD-EC4F789968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CBDD3B-F087-D9D9-E0E2-7089A13E7785}"/>
              </a:ext>
            </a:extLst>
          </p:cNvPr>
          <p:cNvSpPr>
            <a:spLocks noGrp="1"/>
          </p:cNvSpPr>
          <p:nvPr>
            <p:ph type="dt" sz="half" idx="10"/>
          </p:nvPr>
        </p:nvSpPr>
        <p:spPr/>
        <p:txBody>
          <a:bodyPr/>
          <a:lstStyle/>
          <a:p>
            <a:fld id="{7E5C44CB-751B-43BC-90C9-EA637726E591}" type="datetime1">
              <a:rPr lang="en-US" smtClean="0"/>
              <a:t>3/8/2026</a:t>
            </a:fld>
            <a:endParaRPr lang="en-US"/>
          </a:p>
        </p:txBody>
      </p:sp>
      <p:sp>
        <p:nvSpPr>
          <p:cNvPr id="5" name="Footer Placeholder 4">
            <a:extLst>
              <a:ext uri="{FF2B5EF4-FFF2-40B4-BE49-F238E27FC236}">
                <a16:creationId xmlns:a16="http://schemas.microsoft.com/office/drawing/2014/main" id="{77031F9E-811B-923E-3757-9E42CF7149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D9C1D2-0241-656A-5967-1F7C4F27BA44}"/>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3836601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2B210B-5A07-5181-979B-91912DBAFE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24AA96-DC71-BFDE-F648-D23F571118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333B6-C946-45DE-9AA8-625EB218E451}"/>
              </a:ext>
            </a:extLst>
          </p:cNvPr>
          <p:cNvSpPr>
            <a:spLocks noGrp="1"/>
          </p:cNvSpPr>
          <p:nvPr>
            <p:ph type="dt" sz="half" idx="10"/>
          </p:nvPr>
        </p:nvSpPr>
        <p:spPr/>
        <p:txBody>
          <a:bodyPr/>
          <a:lstStyle/>
          <a:p>
            <a:fld id="{21500B27-37BD-4BD5-9A49-BC41E2932581}" type="datetime1">
              <a:rPr lang="en-US" smtClean="0"/>
              <a:t>3/8/2026</a:t>
            </a:fld>
            <a:endParaRPr lang="en-US"/>
          </a:p>
        </p:txBody>
      </p:sp>
      <p:sp>
        <p:nvSpPr>
          <p:cNvPr id="5" name="Footer Placeholder 4">
            <a:extLst>
              <a:ext uri="{FF2B5EF4-FFF2-40B4-BE49-F238E27FC236}">
                <a16:creationId xmlns:a16="http://schemas.microsoft.com/office/drawing/2014/main" id="{B563F181-3088-3215-F11C-4FD480C2A1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26A156-3DB0-7527-85F4-B1D8E01B9D66}"/>
              </a:ext>
            </a:extLst>
          </p:cNvPr>
          <p:cNvSpPr>
            <a:spLocks noGrp="1"/>
          </p:cNvSpPr>
          <p:nvPr>
            <p:ph type="sldNum" sz="quarter" idx="12"/>
          </p:nvPr>
        </p:nvSpPr>
        <p:spPr/>
        <p:txBody>
          <a:bodyPr/>
          <a:lstStyle/>
          <a:p>
            <a:fld id="{881AA1F9-B29B-4CB6-9726-45D9EF80C13A}" type="slidenum">
              <a:rPr lang="en-US" smtClean="0"/>
              <a:t>‹#›</a:t>
            </a:fld>
            <a:endParaRPr lang="en-US"/>
          </a:p>
        </p:txBody>
      </p:sp>
    </p:spTree>
    <p:extLst>
      <p:ext uri="{BB962C8B-B14F-4D97-AF65-F5344CB8AC3E}">
        <p14:creationId xmlns:p14="http://schemas.microsoft.com/office/powerpoint/2010/main" val="2284680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CC7509-9E71-50CB-6EAA-00F093850C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EBF1A9-9F74-F462-BEB2-58687DB116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4DAAB2-708D-5A9B-D0ED-2755864936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1D5A33-15D2-4457-8450-532CD91BF3CB}" type="datetime1">
              <a:rPr lang="en-US" smtClean="0"/>
              <a:t>3/8/2026</a:t>
            </a:fld>
            <a:endParaRPr lang="en-US"/>
          </a:p>
        </p:txBody>
      </p:sp>
      <p:sp>
        <p:nvSpPr>
          <p:cNvPr id="5" name="Footer Placeholder 4">
            <a:extLst>
              <a:ext uri="{FF2B5EF4-FFF2-40B4-BE49-F238E27FC236}">
                <a16:creationId xmlns:a16="http://schemas.microsoft.com/office/drawing/2014/main" id="{402D9010-F037-4012-F5B2-0B85BD570B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79485E0-BDA7-6186-B6FF-C48EFF7CC7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1AA1F9-B29B-4CB6-9726-45D9EF80C13A}" type="slidenum">
              <a:rPr lang="en-US" smtClean="0"/>
              <a:t>‹#›</a:t>
            </a:fld>
            <a:endParaRPr lang="en-US"/>
          </a:p>
        </p:txBody>
      </p:sp>
    </p:spTree>
    <p:extLst>
      <p:ext uri="{BB962C8B-B14F-4D97-AF65-F5344CB8AC3E}">
        <p14:creationId xmlns:p14="http://schemas.microsoft.com/office/powerpoint/2010/main" val="1908613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F6044128-314A-1FC4-0800-351B411A4D6B}"/>
              </a:ext>
            </a:extLst>
          </p:cNvPr>
          <p:cNvGrpSpPr/>
          <p:nvPr/>
        </p:nvGrpSpPr>
        <p:grpSpPr>
          <a:xfrm>
            <a:off x="0" y="6497514"/>
            <a:ext cx="12192000" cy="360486"/>
            <a:chOff x="0" y="6497514"/>
            <a:chExt cx="12192000" cy="360486"/>
          </a:xfrm>
        </p:grpSpPr>
        <p:sp>
          <p:nvSpPr>
            <p:cNvPr id="7" name="Rectangle 6">
              <a:extLst>
                <a:ext uri="{FF2B5EF4-FFF2-40B4-BE49-F238E27FC236}">
                  <a16:creationId xmlns:a16="http://schemas.microsoft.com/office/drawing/2014/main" id="{F9E9D006-873D-976B-83EC-C850B4828C1D}"/>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9" name="Rectangle 8">
              <a:extLst>
                <a:ext uri="{FF2B5EF4-FFF2-40B4-BE49-F238E27FC236}">
                  <a16:creationId xmlns:a16="http://schemas.microsoft.com/office/drawing/2014/main" id="{CBE4B992-703D-7FAD-49B0-DF6F8E40E801}"/>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0" name="Title 9">
            <a:extLst>
              <a:ext uri="{FF2B5EF4-FFF2-40B4-BE49-F238E27FC236}">
                <a16:creationId xmlns:a16="http://schemas.microsoft.com/office/drawing/2014/main" id="{25D99794-19C8-F973-EEBF-DB1A1A0AE95B}"/>
              </a:ext>
            </a:extLst>
          </p:cNvPr>
          <p:cNvSpPr>
            <a:spLocks noGrp="1"/>
          </p:cNvSpPr>
          <p:nvPr>
            <p:ph type="ctrTitle"/>
          </p:nvPr>
        </p:nvSpPr>
        <p:spPr>
          <a:xfrm>
            <a:off x="995082" y="1744506"/>
            <a:ext cx="10201835" cy="2204258"/>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br>
              <a:rPr lang="en-US" sz="3600" dirty="0">
                <a:effectLst/>
                <a:latin typeface="Times New Roman" panose="02020603050405020304" pitchFamily="18" charset="0"/>
                <a:ea typeface="Calibri" panose="020F0502020204030204" pitchFamily="34" charset="0"/>
                <a:cs typeface="Arial" panose="020B0604020202020204" pitchFamily="34" charset="0"/>
              </a:rPr>
            </a:br>
            <a:r>
              <a:rPr lang="en-US" sz="3600" dirty="0">
                <a:effectLst/>
                <a:latin typeface="Times New Roman" panose="02020603050405020304" pitchFamily="18" charset="0"/>
                <a:ea typeface="Calibri" panose="020F0502020204030204" pitchFamily="34" charset="0"/>
                <a:cs typeface="Arial" panose="020B0604020202020204" pitchFamily="34" charset="0"/>
              </a:rPr>
              <a:t>Is Climate Change a Key Factor Affecting Migration? </a:t>
            </a:r>
            <a:br>
              <a:rPr lang="en-US" sz="3600" dirty="0">
                <a:effectLst/>
                <a:latin typeface="Times New Roman" panose="02020603050405020304" pitchFamily="18" charset="0"/>
                <a:ea typeface="Calibri" panose="020F0502020204030204" pitchFamily="34" charset="0"/>
                <a:cs typeface="Arial" panose="020B0604020202020204" pitchFamily="34" charset="0"/>
              </a:rPr>
            </a:br>
            <a:r>
              <a:rPr lang="en-US" sz="3600" dirty="0">
                <a:effectLst/>
                <a:latin typeface="Times New Roman" panose="02020603050405020304" pitchFamily="18" charset="0"/>
                <a:ea typeface="Calibri" panose="020F0502020204030204" pitchFamily="34" charset="0"/>
                <a:cs typeface="Arial" panose="020B0604020202020204" pitchFamily="34" charset="0"/>
              </a:rPr>
              <a:t>Evidence from the MENA Region</a:t>
            </a:r>
            <a:br>
              <a:rPr lang="en-US" sz="3600" dirty="0">
                <a:effectLst/>
                <a:latin typeface="Calibri" panose="020F0502020204030204" pitchFamily="34" charset="0"/>
                <a:ea typeface="Calibri" panose="020F0502020204030204" pitchFamily="34" charset="0"/>
                <a:cs typeface="Arial" panose="020B0604020202020204" pitchFamily="34" charset="0"/>
              </a:rPr>
            </a:br>
            <a:r>
              <a:rPr lang="en-US" sz="3600" dirty="0">
                <a:latin typeface="Times New Roman" panose="02020603050405020304" pitchFamily="18" charset="0"/>
                <a:cs typeface="Times New Roman" panose="02020603050405020304" pitchFamily="18" charset="0"/>
              </a:rPr>
              <a:t> </a:t>
            </a:r>
          </a:p>
        </p:txBody>
      </p:sp>
      <p:sp>
        <p:nvSpPr>
          <p:cNvPr id="11" name="Subtitle 2">
            <a:extLst>
              <a:ext uri="{FF2B5EF4-FFF2-40B4-BE49-F238E27FC236}">
                <a16:creationId xmlns:a16="http://schemas.microsoft.com/office/drawing/2014/main" id="{24960670-EA81-F83A-92A8-A610494D6C1A}"/>
              </a:ext>
            </a:extLst>
          </p:cNvPr>
          <p:cNvSpPr txBox="1">
            <a:spLocks/>
          </p:cNvSpPr>
          <p:nvPr/>
        </p:nvSpPr>
        <p:spPr>
          <a:xfrm>
            <a:off x="1524000" y="3648422"/>
            <a:ext cx="9144000" cy="60068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0277C7E-0A25-110D-B899-AC1FDDFCEB44}"/>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spTree>
    <p:extLst>
      <p:ext uri="{BB962C8B-B14F-4D97-AF65-F5344CB8AC3E}">
        <p14:creationId xmlns:p14="http://schemas.microsoft.com/office/powerpoint/2010/main" val="2632532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48F093-4F26-CB31-476A-DA9115BED06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037DE48-A06C-9F3A-4877-AB8ADAF909A5}"/>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13281FE-AAA2-ECB2-81FC-C11D902230CE}"/>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1"/>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sp>
        <p:nvSpPr>
          <p:cNvPr id="15" name="Rectangle 14">
            <a:extLst>
              <a:ext uri="{FF2B5EF4-FFF2-40B4-BE49-F238E27FC236}">
                <a16:creationId xmlns:a16="http://schemas.microsoft.com/office/drawing/2014/main" id="{47086BA7-432C-D039-21B2-7E08F34EB36C}"/>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Outline</a:t>
            </a:r>
          </a:p>
        </p:txBody>
      </p:sp>
      <p:sp>
        <p:nvSpPr>
          <p:cNvPr id="20" name="Content Placeholder 19">
            <a:extLst>
              <a:ext uri="{FF2B5EF4-FFF2-40B4-BE49-F238E27FC236}">
                <a16:creationId xmlns:a16="http://schemas.microsoft.com/office/drawing/2014/main" id="{843CDF94-0E0C-B49E-8512-E50F23B8D7EC}"/>
              </a:ext>
            </a:extLst>
          </p:cNvPr>
          <p:cNvSpPr>
            <a:spLocks noGrp="1"/>
          </p:cNvSpPr>
          <p:nvPr>
            <p:ph idx="1"/>
          </p:nvPr>
        </p:nvSpPr>
        <p:spPr>
          <a:xfrm>
            <a:off x="838200" y="2141537"/>
            <a:ext cx="10515600" cy="4351338"/>
          </a:xfrm>
        </p:spPr>
        <p:txBody>
          <a:bodyPr>
            <a:normAutofit/>
          </a:bodyPr>
          <a:lstStyle/>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Introduction </a:t>
            </a:r>
          </a:p>
          <a:p>
            <a:pPr lvl="1">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Motivation</a:t>
            </a:r>
          </a:p>
          <a:p>
            <a:pPr lvl="1">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Objective </a:t>
            </a:r>
          </a:p>
          <a:p>
            <a:pPr lvl="1">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Related literature</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Data</a:t>
            </a:r>
            <a:r>
              <a:rPr lang="en-US" sz="19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Variables</a:t>
            </a:r>
          </a:p>
          <a:p>
            <a:pPr lvl="1">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Summary Statistics</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Empirical Model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Empirical Results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Conclusion</a:t>
            </a:r>
          </a:p>
          <a:p>
            <a:endParaRPr lang="en-US" dirty="0"/>
          </a:p>
        </p:txBody>
      </p:sp>
      <p:grpSp>
        <p:nvGrpSpPr>
          <p:cNvPr id="21" name="Group 20">
            <a:extLst>
              <a:ext uri="{FF2B5EF4-FFF2-40B4-BE49-F238E27FC236}">
                <a16:creationId xmlns:a16="http://schemas.microsoft.com/office/drawing/2014/main" id="{48B75E4C-5572-AC8F-D26F-A80B6ED40C52}"/>
              </a:ext>
            </a:extLst>
          </p:cNvPr>
          <p:cNvGrpSpPr/>
          <p:nvPr/>
        </p:nvGrpSpPr>
        <p:grpSpPr>
          <a:xfrm>
            <a:off x="0" y="6488668"/>
            <a:ext cx="12192000" cy="369332"/>
            <a:chOff x="0" y="6488668"/>
            <a:chExt cx="12192000" cy="369332"/>
          </a:xfrm>
        </p:grpSpPr>
        <p:grpSp>
          <p:nvGrpSpPr>
            <p:cNvPr id="14" name="Group 13">
              <a:extLst>
                <a:ext uri="{FF2B5EF4-FFF2-40B4-BE49-F238E27FC236}">
                  <a16:creationId xmlns:a16="http://schemas.microsoft.com/office/drawing/2014/main" id="{0886E24D-1759-966C-5299-57FE5D6FC8B3}"/>
                </a:ext>
              </a:extLst>
            </p:cNvPr>
            <p:cNvGrpSpPr/>
            <p:nvPr/>
          </p:nvGrpSpPr>
          <p:grpSpPr>
            <a:xfrm>
              <a:off x="0" y="6497514"/>
              <a:ext cx="12192000" cy="360486"/>
              <a:chOff x="0" y="6497514"/>
              <a:chExt cx="12192000" cy="360486"/>
            </a:xfrm>
          </p:grpSpPr>
          <p:sp>
            <p:nvSpPr>
              <p:cNvPr id="16" name="Rectangle 15">
                <a:extLst>
                  <a:ext uri="{FF2B5EF4-FFF2-40B4-BE49-F238E27FC236}">
                    <a16:creationId xmlns:a16="http://schemas.microsoft.com/office/drawing/2014/main" id="{99FA3426-BA14-401D-567B-FFB7A8DB37B8}"/>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7" name="Rectangle 16">
                <a:extLst>
                  <a:ext uri="{FF2B5EF4-FFF2-40B4-BE49-F238E27FC236}">
                    <a16:creationId xmlns:a16="http://schemas.microsoft.com/office/drawing/2014/main" id="{F20688B3-8CA5-7AF7-2294-AFE45C7219C0}"/>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9" name="TextBox 18">
              <a:extLst>
                <a:ext uri="{FF2B5EF4-FFF2-40B4-BE49-F238E27FC236}">
                  <a16:creationId xmlns:a16="http://schemas.microsoft.com/office/drawing/2014/main" id="{D1681C9F-78F9-5C4B-2622-422A65D1A5A9}"/>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322504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C32D60A-A0A0-0EB5-8DEC-510061A5B3E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F4D5A78-8387-2887-B98D-AC98F47DAEF9}"/>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241C19D-ABC3-AA86-FA82-A4FE89BC183F}"/>
              </a:ext>
            </a:extLst>
          </p:cNvPr>
          <p:cNvSpPr txBox="1"/>
          <p:nvPr/>
        </p:nvSpPr>
        <p:spPr>
          <a:xfrm>
            <a:off x="6209581" y="393910"/>
            <a:ext cx="1897811" cy="646331"/>
          </a:xfrm>
          <a:prstGeom prst="rect">
            <a:avLst/>
          </a:prstGeom>
          <a:noFill/>
        </p:spPr>
        <p:txBody>
          <a:bodyPr wrap="square" rtlCol="0">
            <a:spAutoFit/>
          </a:bodyPr>
          <a:lstStyle/>
          <a:p>
            <a:r>
              <a:rPr lang="en-US" sz="1200" b="1" dirty="0">
                <a:solidFill>
                  <a:schemeClr val="bg1"/>
                </a:solidFill>
                <a:latin typeface="Times New Roman" panose="02020603050405020304" pitchFamily="18" charset="0"/>
                <a:cs typeface="Times New Roman" panose="02020603050405020304" pitchFamily="18" charset="0"/>
              </a:rPr>
              <a:t>Motivation</a:t>
            </a:r>
          </a:p>
          <a:p>
            <a:r>
              <a:rPr lang="en-US" sz="1200" dirty="0">
                <a:solidFill>
                  <a:schemeClr val="bg2">
                    <a:lumMod val="50000"/>
                  </a:schemeClr>
                </a:solidFill>
                <a:latin typeface="Times New Roman" panose="02020603050405020304" pitchFamily="18" charset="0"/>
                <a:cs typeface="Times New Roman" panose="02020603050405020304" pitchFamily="18" charset="0"/>
              </a:rPr>
              <a:t>Objective</a:t>
            </a:r>
          </a:p>
          <a:p>
            <a:r>
              <a:rPr lang="en-US" sz="1200" dirty="0">
                <a:solidFill>
                  <a:schemeClr val="bg2">
                    <a:lumMod val="50000"/>
                  </a:schemeClr>
                </a:solidFill>
                <a:latin typeface="Times New Roman" panose="02020603050405020304" pitchFamily="18" charset="0"/>
                <a:cs typeface="Times New Roman" panose="02020603050405020304" pitchFamily="18" charset="0"/>
              </a:rPr>
              <a:t>Related literature</a:t>
            </a:r>
          </a:p>
        </p:txBody>
      </p:sp>
      <p:sp>
        <p:nvSpPr>
          <p:cNvPr id="11" name="Rectangle 10">
            <a:extLst>
              <a:ext uri="{FF2B5EF4-FFF2-40B4-BE49-F238E27FC236}">
                <a16:creationId xmlns:a16="http://schemas.microsoft.com/office/drawing/2014/main" id="{B0867540-D1D1-FB77-7584-2078DC5A22BE}"/>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Motivation</a:t>
            </a:r>
          </a:p>
        </p:txBody>
      </p:sp>
      <p:sp>
        <p:nvSpPr>
          <p:cNvPr id="16" name="Content Placeholder 15">
            <a:extLst>
              <a:ext uri="{FF2B5EF4-FFF2-40B4-BE49-F238E27FC236}">
                <a16:creationId xmlns:a16="http://schemas.microsoft.com/office/drawing/2014/main" id="{1CF0C788-EFB1-3E70-6300-607E51DAC797}"/>
              </a:ext>
            </a:extLst>
          </p:cNvPr>
          <p:cNvSpPr>
            <a:spLocks noGrp="1"/>
          </p:cNvSpPr>
          <p:nvPr>
            <p:ph idx="1"/>
          </p:nvPr>
        </p:nvSpPr>
        <p:spPr>
          <a:xfrm>
            <a:off x="951781" y="2143856"/>
            <a:ext cx="10515600" cy="4351338"/>
          </a:xfrm>
        </p:spPr>
        <p:txBody>
          <a:bodyPr>
            <a:normAutofit/>
          </a:bodyPr>
          <a:lstStyle/>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Intergovernmental Panel on Climate Change (IPCC 2014) declared that climate change would have its greatest impact on human displacement, predicting 200 million people to migrate by 2050</a:t>
            </a:r>
          </a:p>
          <a:p>
            <a:pPr marL="0" indent="0">
              <a:buNone/>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MENA region is an interesting spot to tackle the impact of climate change on human displacement for:</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MENA’s orography and climatic conditions</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Agriculture-based economies </a:t>
            </a:r>
          </a:p>
          <a:p>
            <a:pPr lvl="1">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MENA being among the leading regions witnessing migration</a:t>
            </a:r>
          </a:p>
          <a:p>
            <a:pPr marL="457200" lvl="1" indent="0">
              <a:buNone/>
            </a:pPr>
            <a:endParaRPr lang="en-US"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CB938AF-EBFF-0FD4-8CA8-C1FD3BBDE1B1}"/>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1"/>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3" name="Group 2">
            <a:extLst>
              <a:ext uri="{FF2B5EF4-FFF2-40B4-BE49-F238E27FC236}">
                <a16:creationId xmlns:a16="http://schemas.microsoft.com/office/drawing/2014/main" id="{BECDF4A3-33A6-57D5-34C5-588C6025A483}"/>
              </a:ext>
            </a:extLst>
          </p:cNvPr>
          <p:cNvGrpSpPr/>
          <p:nvPr/>
        </p:nvGrpSpPr>
        <p:grpSpPr>
          <a:xfrm>
            <a:off x="0" y="6488668"/>
            <a:ext cx="12192000" cy="369332"/>
            <a:chOff x="0" y="6488668"/>
            <a:chExt cx="12192000" cy="369332"/>
          </a:xfrm>
        </p:grpSpPr>
        <p:grpSp>
          <p:nvGrpSpPr>
            <p:cNvPr id="9" name="Group 8">
              <a:extLst>
                <a:ext uri="{FF2B5EF4-FFF2-40B4-BE49-F238E27FC236}">
                  <a16:creationId xmlns:a16="http://schemas.microsoft.com/office/drawing/2014/main" id="{01DEE448-7767-AF23-1006-2293333D62A7}"/>
                </a:ext>
              </a:extLst>
            </p:cNvPr>
            <p:cNvGrpSpPr/>
            <p:nvPr/>
          </p:nvGrpSpPr>
          <p:grpSpPr>
            <a:xfrm>
              <a:off x="0" y="6497514"/>
              <a:ext cx="12192000" cy="360486"/>
              <a:chOff x="0" y="6497514"/>
              <a:chExt cx="12192000" cy="360486"/>
            </a:xfrm>
          </p:grpSpPr>
          <p:sp>
            <p:nvSpPr>
              <p:cNvPr id="13" name="Rectangle 12">
                <a:extLst>
                  <a:ext uri="{FF2B5EF4-FFF2-40B4-BE49-F238E27FC236}">
                    <a16:creationId xmlns:a16="http://schemas.microsoft.com/office/drawing/2014/main" id="{5372CEDA-2E6C-7CBF-052E-97283446FBF7}"/>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5" name="Rectangle 14">
                <a:extLst>
                  <a:ext uri="{FF2B5EF4-FFF2-40B4-BE49-F238E27FC236}">
                    <a16:creationId xmlns:a16="http://schemas.microsoft.com/office/drawing/2014/main" id="{61EB3E4A-6783-80E8-2E53-3F6F345AAD41}"/>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2" name="TextBox 11">
              <a:extLst>
                <a:ext uri="{FF2B5EF4-FFF2-40B4-BE49-F238E27FC236}">
                  <a16:creationId xmlns:a16="http://schemas.microsoft.com/office/drawing/2014/main" id="{82A164BC-54E1-D263-B40E-20137E2779CA}"/>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644109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C32D60A-A0A0-0EB5-8DEC-510061A5B3E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F4D5A78-8387-2887-B98D-AC98F47DAEF9}"/>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0867540-D1D1-FB77-7584-2078DC5A22BE}"/>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Objective</a:t>
            </a:r>
          </a:p>
        </p:txBody>
      </p:sp>
      <p:sp>
        <p:nvSpPr>
          <p:cNvPr id="14" name="Slide Number Placeholder 13">
            <a:extLst>
              <a:ext uri="{FF2B5EF4-FFF2-40B4-BE49-F238E27FC236}">
                <a16:creationId xmlns:a16="http://schemas.microsoft.com/office/drawing/2014/main" id="{2D3AD564-26C6-DEFA-4828-3726F3DD1069}"/>
              </a:ext>
            </a:extLst>
          </p:cNvPr>
          <p:cNvSpPr>
            <a:spLocks noGrp="1"/>
          </p:cNvSpPr>
          <p:nvPr>
            <p:ph type="sldNum" sz="quarter" idx="12"/>
          </p:nvPr>
        </p:nvSpPr>
        <p:spPr>
          <a:xfrm>
            <a:off x="9448800" y="6492875"/>
            <a:ext cx="2743200" cy="365125"/>
          </a:xfrm>
        </p:spPr>
        <p:txBody>
          <a:bodyPr/>
          <a:lstStyle/>
          <a:p>
            <a:endParaRPr lang="en-US" dirty="0"/>
          </a:p>
        </p:txBody>
      </p:sp>
      <p:sp>
        <p:nvSpPr>
          <p:cNvPr id="16" name="Content Placeholder 15">
            <a:extLst>
              <a:ext uri="{FF2B5EF4-FFF2-40B4-BE49-F238E27FC236}">
                <a16:creationId xmlns:a16="http://schemas.microsoft.com/office/drawing/2014/main" id="{1CF0C788-EFB1-3E70-6300-607E51DAC797}"/>
              </a:ext>
            </a:extLst>
          </p:cNvPr>
          <p:cNvSpPr>
            <a:spLocks noGrp="1"/>
          </p:cNvSpPr>
          <p:nvPr>
            <p:ph idx="1"/>
          </p:nvPr>
        </p:nvSpPr>
        <p:spPr>
          <a:xfrm>
            <a:off x="838200" y="3172438"/>
            <a:ext cx="10515600" cy="1421078"/>
          </a:xfrm>
        </p:spPr>
        <p:txBody>
          <a:bodyPr>
            <a:normAutofit/>
          </a:bodyPr>
          <a:lstStyle/>
          <a:p>
            <a:pPr marL="457200" lvl="1" indent="0">
              <a:buNone/>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aim</a:t>
            </a:r>
            <a:r>
              <a:rPr lang="en-US" sz="2800" dirty="0">
                <a:latin typeface="Times New Roman" panose="02020603050405020304" pitchFamily="18" charset="0"/>
                <a:cs typeface="Times New Roman" panose="02020603050405020304" pitchFamily="18" charset="0"/>
              </a:rPr>
              <a:t> of this paper is to provide empirical understanding of the correlation between climate  and migration in the MENA region.</a:t>
            </a:r>
          </a:p>
          <a:p>
            <a:pPr marL="457200" lvl="1" indent="0">
              <a:buNone/>
            </a:pPr>
            <a:endParaRPr lang="en-US"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68A439D-110D-4264-F517-897995C87142}"/>
              </a:ext>
            </a:extLst>
          </p:cNvPr>
          <p:cNvSpPr txBox="1"/>
          <p:nvPr/>
        </p:nvSpPr>
        <p:spPr>
          <a:xfrm>
            <a:off x="6209581" y="393910"/>
            <a:ext cx="1897811" cy="646331"/>
          </a:xfrm>
          <a:prstGeom prst="rect">
            <a:avLst/>
          </a:prstGeom>
          <a:noFill/>
        </p:spPr>
        <p:txBody>
          <a:bodyPr wrap="square" rtlCol="0">
            <a:spAutoFit/>
          </a:bodyPr>
          <a:lstStyle/>
          <a:p>
            <a:r>
              <a:rPr lang="en-US" sz="1200" b="1" dirty="0">
                <a:solidFill>
                  <a:schemeClr val="bg2">
                    <a:lumMod val="50000"/>
                  </a:schemeClr>
                </a:solidFill>
                <a:latin typeface="Times New Roman" panose="02020603050405020304" pitchFamily="18" charset="0"/>
                <a:cs typeface="Times New Roman" panose="02020603050405020304" pitchFamily="18" charset="0"/>
              </a:rPr>
              <a:t>Motivation</a:t>
            </a:r>
          </a:p>
          <a:p>
            <a:r>
              <a:rPr lang="en-US" sz="1200" dirty="0">
                <a:solidFill>
                  <a:schemeClr val="bg1"/>
                </a:solidFill>
                <a:latin typeface="Times New Roman" panose="02020603050405020304" pitchFamily="18" charset="0"/>
                <a:cs typeface="Times New Roman" panose="02020603050405020304" pitchFamily="18" charset="0"/>
              </a:rPr>
              <a:t>Objective</a:t>
            </a:r>
          </a:p>
          <a:p>
            <a:r>
              <a:rPr lang="en-US" sz="1200" dirty="0">
                <a:solidFill>
                  <a:schemeClr val="bg2">
                    <a:lumMod val="50000"/>
                  </a:schemeClr>
                </a:solidFill>
                <a:latin typeface="Times New Roman" panose="02020603050405020304" pitchFamily="18" charset="0"/>
                <a:cs typeface="Times New Roman" panose="02020603050405020304" pitchFamily="18" charset="0"/>
              </a:rPr>
              <a:t>Related literature</a:t>
            </a:r>
          </a:p>
        </p:txBody>
      </p:sp>
      <p:sp>
        <p:nvSpPr>
          <p:cNvPr id="3" name="TextBox 2">
            <a:extLst>
              <a:ext uri="{FF2B5EF4-FFF2-40B4-BE49-F238E27FC236}">
                <a16:creationId xmlns:a16="http://schemas.microsoft.com/office/drawing/2014/main" id="{ECF4704D-A4A8-4F33-CD3C-5020B1DA6221}"/>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1"/>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9" name="Group 8">
            <a:extLst>
              <a:ext uri="{FF2B5EF4-FFF2-40B4-BE49-F238E27FC236}">
                <a16:creationId xmlns:a16="http://schemas.microsoft.com/office/drawing/2014/main" id="{097C95DA-ACB8-2EC5-7420-027E6EFD43F3}"/>
              </a:ext>
            </a:extLst>
          </p:cNvPr>
          <p:cNvGrpSpPr/>
          <p:nvPr/>
        </p:nvGrpSpPr>
        <p:grpSpPr>
          <a:xfrm>
            <a:off x="0" y="6488668"/>
            <a:ext cx="12192000" cy="369332"/>
            <a:chOff x="0" y="6488668"/>
            <a:chExt cx="12192000" cy="369332"/>
          </a:xfrm>
        </p:grpSpPr>
        <p:grpSp>
          <p:nvGrpSpPr>
            <p:cNvPr id="10" name="Group 9">
              <a:extLst>
                <a:ext uri="{FF2B5EF4-FFF2-40B4-BE49-F238E27FC236}">
                  <a16:creationId xmlns:a16="http://schemas.microsoft.com/office/drawing/2014/main" id="{BC4C19C5-2C77-5937-844B-DD0E4B960171}"/>
                </a:ext>
              </a:extLst>
            </p:cNvPr>
            <p:cNvGrpSpPr/>
            <p:nvPr/>
          </p:nvGrpSpPr>
          <p:grpSpPr>
            <a:xfrm>
              <a:off x="0" y="6497514"/>
              <a:ext cx="12192000" cy="360486"/>
              <a:chOff x="0" y="6497514"/>
              <a:chExt cx="12192000" cy="360486"/>
            </a:xfrm>
          </p:grpSpPr>
          <p:sp>
            <p:nvSpPr>
              <p:cNvPr id="13" name="Rectangle 12">
                <a:extLst>
                  <a:ext uri="{FF2B5EF4-FFF2-40B4-BE49-F238E27FC236}">
                    <a16:creationId xmlns:a16="http://schemas.microsoft.com/office/drawing/2014/main" id="{6A636AFB-07A5-CEB9-C996-EDF318FBB999}"/>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5" name="Rectangle 14">
                <a:extLst>
                  <a:ext uri="{FF2B5EF4-FFF2-40B4-BE49-F238E27FC236}">
                    <a16:creationId xmlns:a16="http://schemas.microsoft.com/office/drawing/2014/main" id="{6EB01099-1918-A229-B9BE-A367D1668A11}"/>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2" name="TextBox 11">
              <a:extLst>
                <a:ext uri="{FF2B5EF4-FFF2-40B4-BE49-F238E27FC236}">
                  <a16:creationId xmlns:a16="http://schemas.microsoft.com/office/drawing/2014/main" id="{EF270290-C606-E833-846A-9B47C0EF86F7}"/>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2981357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7F607-E520-AE7E-4562-7E854D257C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AA150E-670D-07AC-A852-06B7D02C06EB}"/>
              </a:ext>
            </a:extLst>
          </p:cNvPr>
          <p:cNvSpPr>
            <a:spLocks noGrp="1"/>
          </p:cNvSpPr>
          <p:nvPr>
            <p:ph idx="1"/>
          </p:nvPr>
        </p:nvSpPr>
        <p:spPr>
          <a:xfrm>
            <a:off x="838200" y="2704333"/>
            <a:ext cx="10515600" cy="4351338"/>
          </a:xfrm>
        </p:spPr>
        <p:txBody>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literature on the effects of environmental and climate events on migration is relatively new and expanding.</a:t>
            </a:r>
          </a:p>
          <a:p>
            <a:pP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Several studies have examined the impact of climate change episodes on migration in both developed and developing countries.</a:t>
            </a: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A7BCFADA-99E6-9F7F-F48B-E7A32D2FF1D7}"/>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0DF3C91-FEE1-A950-0640-D0CBF095B592}"/>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ECC0C5-8CFF-5EA0-6122-6F60023D9ABE}"/>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Related literature</a:t>
            </a:r>
          </a:p>
        </p:txBody>
      </p:sp>
      <p:sp>
        <p:nvSpPr>
          <p:cNvPr id="9" name="TextBox 8">
            <a:extLst>
              <a:ext uri="{FF2B5EF4-FFF2-40B4-BE49-F238E27FC236}">
                <a16:creationId xmlns:a16="http://schemas.microsoft.com/office/drawing/2014/main" id="{43B69012-6C61-E0A8-B0FF-27A13FAF0527}"/>
              </a:ext>
            </a:extLst>
          </p:cNvPr>
          <p:cNvSpPr txBox="1"/>
          <p:nvPr/>
        </p:nvSpPr>
        <p:spPr>
          <a:xfrm>
            <a:off x="6209581" y="393910"/>
            <a:ext cx="1897811" cy="646331"/>
          </a:xfrm>
          <a:prstGeom prst="rect">
            <a:avLst/>
          </a:prstGeom>
          <a:noFill/>
        </p:spPr>
        <p:txBody>
          <a:bodyPr wrap="square" rtlCol="0">
            <a:spAutoFit/>
          </a:bodyPr>
          <a:lstStyle/>
          <a:p>
            <a:r>
              <a:rPr lang="en-US" sz="1200" b="1" dirty="0">
                <a:solidFill>
                  <a:schemeClr val="bg2">
                    <a:lumMod val="50000"/>
                  </a:schemeClr>
                </a:solidFill>
                <a:latin typeface="Times New Roman" panose="02020603050405020304" pitchFamily="18" charset="0"/>
                <a:cs typeface="Times New Roman" panose="02020603050405020304" pitchFamily="18" charset="0"/>
              </a:rPr>
              <a:t>Motivation</a:t>
            </a:r>
          </a:p>
          <a:p>
            <a:r>
              <a:rPr lang="en-US" sz="1200" dirty="0">
                <a:solidFill>
                  <a:schemeClr val="bg2">
                    <a:lumMod val="50000"/>
                  </a:schemeClr>
                </a:solidFill>
                <a:latin typeface="Times New Roman" panose="02020603050405020304" pitchFamily="18" charset="0"/>
                <a:cs typeface="Times New Roman" panose="02020603050405020304" pitchFamily="18" charset="0"/>
              </a:rPr>
              <a:t>Objective</a:t>
            </a:r>
          </a:p>
          <a:p>
            <a:r>
              <a:rPr lang="en-US" sz="1200" dirty="0">
                <a:solidFill>
                  <a:schemeClr val="bg1"/>
                </a:solidFill>
                <a:latin typeface="Times New Roman" panose="02020603050405020304" pitchFamily="18" charset="0"/>
                <a:cs typeface="Times New Roman" panose="02020603050405020304" pitchFamily="18" charset="0"/>
              </a:rPr>
              <a:t>Related literature</a:t>
            </a:r>
          </a:p>
        </p:txBody>
      </p:sp>
      <p:sp>
        <p:nvSpPr>
          <p:cNvPr id="12" name="TextBox 11">
            <a:extLst>
              <a:ext uri="{FF2B5EF4-FFF2-40B4-BE49-F238E27FC236}">
                <a16:creationId xmlns:a16="http://schemas.microsoft.com/office/drawing/2014/main" id="{997C00E1-E91B-1D27-E66B-4E5898C12723}"/>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1"/>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18" name="Group 17">
            <a:extLst>
              <a:ext uri="{FF2B5EF4-FFF2-40B4-BE49-F238E27FC236}">
                <a16:creationId xmlns:a16="http://schemas.microsoft.com/office/drawing/2014/main" id="{D2A369E7-8EA6-791C-9393-D13E826EDB30}"/>
              </a:ext>
            </a:extLst>
          </p:cNvPr>
          <p:cNvGrpSpPr/>
          <p:nvPr/>
        </p:nvGrpSpPr>
        <p:grpSpPr>
          <a:xfrm>
            <a:off x="0" y="6488668"/>
            <a:ext cx="12192000" cy="369332"/>
            <a:chOff x="0" y="6488668"/>
            <a:chExt cx="12192000" cy="369332"/>
          </a:xfrm>
        </p:grpSpPr>
        <p:grpSp>
          <p:nvGrpSpPr>
            <p:cNvPr id="19" name="Group 18">
              <a:extLst>
                <a:ext uri="{FF2B5EF4-FFF2-40B4-BE49-F238E27FC236}">
                  <a16:creationId xmlns:a16="http://schemas.microsoft.com/office/drawing/2014/main" id="{B6C391F6-9465-F206-5FDB-B19F8DC3392C}"/>
                </a:ext>
              </a:extLst>
            </p:cNvPr>
            <p:cNvGrpSpPr/>
            <p:nvPr/>
          </p:nvGrpSpPr>
          <p:grpSpPr>
            <a:xfrm>
              <a:off x="0" y="6497514"/>
              <a:ext cx="12192000" cy="360486"/>
              <a:chOff x="0" y="6497514"/>
              <a:chExt cx="12192000" cy="360486"/>
            </a:xfrm>
          </p:grpSpPr>
          <p:sp>
            <p:nvSpPr>
              <p:cNvPr id="21" name="Rectangle 20">
                <a:extLst>
                  <a:ext uri="{FF2B5EF4-FFF2-40B4-BE49-F238E27FC236}">
                    <a16:creationId xmlns:a16="http://schemas.microsoft.com/office/drawing/2014/main" id="{F01AA791-6782-6648-DA61-9AE647341C94}"/>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22" name="Rectangle 21">
                <a:extLst>
                  <a:ext uri="{FF2B5EF4-FFF2-40B4-BE49-F238E27FC236}">
                    <a16:creationId xmlns:a16="http://schemas.microsoft.com/office/drawing/2014/main" id="{AF3F0DAD-65DC-EC9D-EADE-1065318CEEFB}"/>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20" name="TextBox 19">
              <a:extLst>
                <a:ext uri="{FF2B5EF4-FFF2-40B4-BE49-F238E27FC236}">
                  <a16:creationId xmlns:a16="http://schemas.microsoft.com/office/drawing/2014/main" id="{45E321A8-9D9C-CB61-9317-12E04C62A5B2}"/>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412767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7F607-E520-AE7E-4562-7E854D257C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AA150E-670D-07AC-A852-06B7D02C06EB}"/>
              </a:ext>
            </a:extLst>
          </p:cNvPr>
          <p:cNvSpPr>
            <a:spLocks noGrp="1"/>
          </p:cNvSpPr>
          <p:nvPr>
            <p:ph idx="1"/>
          </p:nvPr>
        </p:nvSpPr>
        <p:spPr>
          <a:xfrm>
            <a:off x="838200" y="2143857"/>
            <a:ext cx="10515600" cy="4351338"/>
          </a:xfrm>
        </p:spPr>
        <p:txBody>
          <a:bodyPr/>
          <a:lstStyle/>
          <a:p>
            <a:pPr marL="0" indent="0">
              <a:buNone/>
            </a:pPr>
            <a:r>
              <a:rPr lang="en-US" sz="2200" b="1" dirty="0">
                <a:latin typeface="Times New Roman" panose="02020603050405020304" pitchFamily="18" charset="0"/>
                <a:cs typeface="Times New Roman" panose="02020603050405020304" pitchFamily="18" charset="0"/>
              </a:rPr>
              <a:t>Developed Countries: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Concerns about the effects of climate change do not appear to be a significant driver of migration from Funafuti (</a:t>
            </a:r>
            <a:r>
              <a:rPr lang="en-US" sz="2200" dirty="0" err="1">
                <a:latin typeface="Times New Roman" panose="02020603050405020304" pitchFamily="18" charset="0"/>
                <a:cs typeface="Times New Roman" panose="02020603050405020304" pitchFamily="18" charset="0"/>
              </a:rPr>
              <a:t>Mortreux</a:t>
            </a:r>
            <a:r>
              <a:rPr lang="en-US" sz="2200" dirty="0">
                <a:latin typeface="Times New Roman" panose="02020603050405020304" pitchFamily="18" charset="0"/>
                <a:cs typeface="Times New Roman" panose="02020603050405020304" pitchFamily="18" charset="0"/>
              </a:rPr>
              <a:t> and Barnett, 2008). </a:t>
            </a:r>
          </a:p>
          <a:p>
            <a:pPr>
              <a:buFont typeface="Wingdings" panose="05000000000000000000" pitchFamily="2" charset="2"/>
              <a:buChar char="Ø"/>
            </a:pPr>
            <a:r>
              <a:rPr lang="en-US" sz="2200" dirty="0" err="1">
                <a:latin typeface="Times New Roman" panose="02020603050405020304" pitchFamily="18" charset="0"/>
                <a:cs typeface="Times New Roman" panose="02020603050405020304" pitchFamily="18" charset="0"/>
              </a:rPr>
              <a:t>Benveniste</a:t>
            </a:r>
            <a:r>
              <a:rPr lang="en-US" sz="2200" dirty="0">
                <a:latin typeface="Times New Roman" panose="02020603050405020304" pitchFamily="18" charset="0"/>
                <a:cs typeface="Times New Roman" panose="02020603050405020304" pitchFamily="18" charset="0"/>
              </a:rPr>
              <a:t> et al. (2022) determined that climate change reduces migration of low-income people by more than 10% and by up to 35% for more pessimistic scenarios in the U.S. </a:t>
            </a:r>
          </a:p>
          <a:p>
            <a:pPr>
              <a:buFont typeface="Wingdings" panose="05000000000000000000" pitchFamily="2" charset="2"/>
              <a:buChar char="Ø"/>
            </a:pPr>
            <a:r>
              <a:rPr lang="en-US" sz="2200" dirty="0" err="1">
                <a:latin typeface="Times New Roman" panose="02020603050405020304" pitchFamily="18" charset="0"/>
                <a:cs typeface="Times New Roman" panose="02020603050405020304" pitchFamily="18" charset="0"/>
              </a:rPr>
              <a:t>Mcleman</a:t>
            </a:r>
            <a:r>
              <a:rPr lang="en-US" sz="2200" dirty="0">
                <a:latin typeface="Times New Roman" panose="02020603050405020304" pitchFamily="18" charset="0"/>
                <a:cs typeface="Times New Roman" panose="02020603050405020304" pitchFamily="18" charset="0"/>
              </a:rPr>
              <a:t> and Smit (2006) concluded that the decision to migrate from Oklahoma at the end of a failed harvest was controlled by the land owner rather than the household.</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environment is not the most important factor influencing migration; both social and human capital have far more powerful and consistent effects on migration out of Chitwan (Massey et al., 2010).</a:t>
            </a: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A7BCFADA-99E6-9F7F-F48B-E7A32D2FF1D7}"/>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0DF3C91-FEE1-A950-0640-D0CBF095B592}"/>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ECC0C5-8CFF-5EA0-6122-6F60023D9ABE}"/>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Related literature</a:t>
            </a:r>
          </a:p>
        </p:txBody>
      </p:sp>
      <p:sp>
        <p:nvSpPr>
          <p:cNvPr id="9" name="TextBox 8">
            <a:extLst>
              <a:ext uri="{FF2B5EF4-FFF2-40B4-BE49-F238E27FC236}">
                <a16:creationId xmlns:a16="http://schemas.microsoft.com/office/drawing/2014/main" id="{3E097104-0A18-9428-3994-A81426938807}"/>
              </a:ext>
            </a:extLst>
          </p:cNvPr>
          <p:cNvSpPr txBox="1"/>
          <p:nvPr/>
        </p:nvSpPr>
        <p:spPr>
          <a:xfrm>
            <a:off x="6209581" y="393910"/>
            <a:ext cx="1897811" cy="646331"/>
          </a:xfrm>
          <a:prstGeom prst="rect">
            <a:avLst/>
          </a:prstGeom>
          <a:noFill/>
        </p:spPr>
        <p:txBody>
          <a:bodyPr wrap="square" rtlCol="0">
            <a:spAutoFit/>
          </a:bodyPr>
          <a:lstStyle/>
          <a:p>
            <a:r>
              <a:rPr lang="en-US" sz="1200" b="1" dirty="0">
                <a:solidFill>
                  <a:schemeClr val="bg2">
                    <a:lumMod val="50000"/>
                  </a:schemeClr>
                </a:solidFill>
                <a:latin typeface="Times New Roman" panose="02020603050405020304" pitchFamily="18" charset="0"/>
                <a:cs typeface="Times New Roman" panose="02020603050405020304" pitchFamily="18" charset="0"/>
              </a:rPr>
              <a:t>Motivation</a:t>
            </a:r>
          </a:p>
          <a:p>
            <a:r>
              <a:rPr lang="en-US" sz="1200" dirty="0">
                <a:solidFill>
                  <a:schemeClr val="bg2">
                    <a:lumMod val="50000"/>
                  </a:schemeClr>
                </a:solidFill>
                <a:latin typeface="Times New Roman" panose="02020603050405020304" pitchFamily="18" charset="0"/>
                <a:cs typeface="Times New Roman" panose="02020603050405020304" pitchFamily="18" charset="0"/>
              </a:rPr>
              <a:t>Objective</a:t>
            </a:r>
          </a:p>
          <a:p>
            <a:r>
              <a:rPr lang="en-US" sz="1200" dirty="0">
                <a:solidFill>
                  <a:schemeClr val="bg1"/>
                </a:solidFill>
                <a:latin typeface="Times New Roman" panose="02020603050405020304" pitchFamily="18" charset="0"/>
                <a:cs typeface="Times New Roman" panose="02020603050405020304" pitchFamily="18" charset="0"/>
              </a:rPr>
              <a:t>Related literature</a:t>
            </a:r>
          </a:p>
        </p:txBody>
      </p:sp>
      <p:sp>
        <p:nvSpPr>
          <p:cNvPr id="12" name="TextBox 11">
            <a:extLst>
              <a:ext uri="{FF2B5EF4-FFF2-40B4-BE49-F238E27FC236}">
                <a16:creationId xmlns:a16="http://schemas.microsoft.com/office/drawing/2014/main" id="{8FAC540A-FB34-17A5-48B5-221DCBF4712F}"/>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1"/>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11" name="Group 10">
            <a:extLst>
              <a:ext uri="{FF2B5EF4-FFF2-40B4-BE49-F238E27FC236}">
                <a16:creationId xmlns:a16="http://schemas.microsoft.com/office/drawing/2014/main" id="{C66DC4F8-E3B6-708F-D80F-64DB0A179CF8}"/>
              </a:ext>
            </a:extLst>
          </p:cNvPr>
          <p:cNvGrpSpPr/>
          <p:nvPr/>
        </p:nvGrpSpPr>
        <p:grpSpPr>
          <a:xfrm>
            <a:off x="0" y="6488668"/>
            <a:ext cx="12192000" cy="369332"/>
            <a:chOff x="0" y="6488668"/>
            <a:chExt cx="12192000" cy="369332"/>
          </a:xfrm>
        </p:grpSpPr>
        <p:grpSp>
          <p:nvGrpSpPr>
            <p:cNvPr id="13" name="Group 12">
              <a:extLst>
                <a:ext uri="{FF2B5EF4-FFF2-40B4-BE49-F238E27FC236}">
                  <a16:creationId xmlns:a16="http://schemas.microsoft.com/office/drawing/2014/main" id="{B2FA9211-6238-6103-2D07-F51D88C29DB5}"/>
                </a:ext>
              </a:extLst>
            </p:cNvPr>
            <p:cNvGrpSpPr/>
            <p:nvPr/>
          </p:nvGrpSpPr>
          <p:grpSpPr>
            <a:xfrm>
              <a:off x="0" y="6497514"/>
              <a:ext cx="12192000" cy="360486"/>
              <a:chOff x="0" y="6497514"/>
              <a:chExt cx="12192000" cy="360486"/>
            </a:xfrm>
          </p:grpSpPr>
          <p:sp>
            <p:nvSpPr>
              <p:cNvPr id="16" name="Rectangle 15">
                <a:extLst>
                  <a:ext uri="{FF2B5EF4-FFF2-40B4-BE49-F238E27FC236}">
                    <a16:creationId xmlns:a16="http://schemas.microsoft.com/office/drawing/2014/main" id="{EB1BA12A-62B8-BBB6-7551-F4F1F4D44F0E}"/>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7" name="Rectangle 16">
                <a:extLst>
                  <a:ext uri="{FF2B5EF4-FFF2-40B4-BE49-F238E27FC236}">
                    <a16:creationId xmlns:a16="http://schemas.microsoft.com/office/drawing/2014/main" id="{488F6990-6565-A1E3-1E5E-BBB627F1BC10}"/>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5" name="TextBox 14">
              <a:extLst>
                <a:ext uri="{FF2B5EF4-FFF2-40B4-BE49-F238E27FC236}">
                  <a16:creationId xmlns:a16="http://schemas.microsoft.com/office/drawing/2014/main" id="{8E834CC7-6827-C343-F963-13B60A5A19BA}"/>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3791860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7F607-E520-AE7E-4562-7E854D257C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AA150E-670D-07AC-A852-06B7D02C06EB}"/>
              </a:ext>
            </a:extLst>
          </p:cNvPr>
          <p:cNvSpPr>
            <a:spLocks noGrp="1"/>
          </p:cNvSpPr>
          <p:nvPr>
            <p:ph idx="1"/>
          </p:nvPr>
        </p:nvSpPr>
        <p:spPr>
          <a:xfrm>
            <a:off x="838200" y="1913793"/>
            <a:ext cx="10515600" cy="4351338"/>
          </a:xfrm>
        </p:spPr>
        <p:txBody>
          <a:bodyPr>
            <a:normAutofit fontScale="92500" lnSpcReduction="20000"/>
          </a:bodyPr>
          <a:lstStyle/>
          <a:p>
            <a:pPr marL="0" indent="0">
              <a:buNone/>
            </a:pPr>
            <a:r>
              <a:rPr lang="en-US" sz="2200" b="1" dirty="0">
                <a:latin typeface="Times New Roman" panose="02020603050405020304" pitchFamily="18" charset="0"/>
                <a:cs typeface="Times New Roman" panose="02020603050405020304" pitchFamily="18" charset="0"/>
              </a:rPr>
              <a:t>Developing Countries: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Mueller et al. (2019) discovered that it is not surprising that climate variability has a significant impact on temporary migration decisions in eastern Africa, indicating that it reduces urban, rather than rural, temporary out-migration.</a:t>
            </a:r>
          </a:p>
          <a:p>
            <a:pPr>
              <a:buFont typeface="Wingdings" panose="05000000000000000000" pitchFamily="2" charset="2"/>
              <a:buChar char="Ø"/>
            </a:pPr>
            <a:r>
              <a:rPr lang="en-US" sz="2200" dirty="0" err="1">
                <a:latin typeface="Times New Roman" panose="02020603050405020304" pitchFamily="18" charset="0"/>
                <a:cs typeface="Times New Roman" panose="02020603050405020304" pitchFamily="18" charset="0"/>
              </a:rPr>
              <a:t>Cattaneo</a:t>
            </a:r>
            <a:r>
              <a:rPr lang="en-US" sz="2200" dirty="0">
                <a:latin typeface="Times New Roman" panose="02020603050405020304" pitchFamily="18" charset="0"/>
                <a:cs typeface="Times New Roman" panose="02020603050405020304" pitchFamily="18" charset="0"/>
              </a:rPr>
              <a:t> and Peri (2016) discovered that between 1960 and 2000, higher temperatures in middle-income economies increased migration rates to urban areas and to other countries. On the other side, in poor countries, higher temperatures reduced the probability of migration to cities and to other countries, consistently.</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Murakami (2020) discovered that an increase in annual average air temperature and in precipitation will lower migration because international migration is costly. </a:t>
            </a:r>
          </a:p>
          <a:p>
            <a:pPr>
              <a:buFont typeface="Wingdings" panose="05000000000000000000" pitchFamily="2" charset="2"/>
              <a:buChar char="Ø"/>
            </a:pPr>
            <a:r>
              <a:rPr lang="en-US" sz="2200" dirty="0" err="1">
                <a:latin typeface="Times New Roman" panose="02020603050405020304" pitchFamily="18" charset="0"/>
                <a:cs typeface="Times New Roman" panose="02020603050405020304" pitchFamily="18" charset="0"/>
              </a:rPr>
              <a:t>Delazeri</a:t>
            </a:r>
            <a:r>
              <a:rPr lang="en-US" sz="2200" dirty="0">
                <a:latin typeface="Times New Roman" panose="02020603050405020304" pitchFamily="18" charset="0"/>
                <a:cs typeface="Times New Roman" panose="02020603050405020304" pitchFamily="18" charset="0"/>
              </a:rPr>
              <a:t> et al. (2022) concluded that income and education are major determinants of migration decision-making. Low-income rural areas cannot stop farming and migrate because they cannot afford it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Henry et al. (2004) discovered that rainfall conditions have no effect on migration from rural areas suggesting that migration behavior is less responsive to environmental factors like rainfall, but rather depends on socio-demographic factors like education</a:t>
            </a: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A7BCFADA-99E6-9F7F-F48B-E7A32D2FF1D7}"/>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0DF3C91-FEE1-A950-0640-D0CBF095B592}"/>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EECC0C5-8CFF-5EA0-6122-6F60023D9ABE}"/>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Related literature</a:t>
            </a:r>
          </a:p>
        </p:txBody>
      </p:sp>
      <p:sp>
        <p:nvSpPr>
          <p:cNvPr id="9" name="TextBox 8">
            <a:extLst>
              <a:ext uri="{FF2B5EF4-FFF2-40B4-BE49-F238E27FC236}">
                <a16:creationId xmlns:a16="http://schemas.microsoft.com/office/drawing/2014/main" id="{B185B7C2-668D-1FCC-F952-296D9601DF79}"/>
              </a:ext>
            </a:extLst>
          </p:cNvPr>
          <p:cNvSpPr txBox="1"/>
          <p:nvPr/>
        </p:nvSpPr>
        <p:spPr>
          <a:xfrm>
            <a:off x="6209581" y="393910"/>
            <a:ext cx="1897811" cy="646331"/>
          </a:xfrm>
          <a:prstGeom prst="rect">
            <a:avLst/>
          </a:prstGeom>
          <a:noFill/>
        </p:spPr>
        <p:txBody>
          <a:bodyPr wrap="square" rtlCol="0">
            <a:spAutoFit/>
          </a:bodyPr>
          <a:lstStyle/>
          <a:p>
            <a:r>
              <a:rPr lang="en-US" sz="1200" b="1" dirty="0">
                <a:solidFill>
                  <a:schemeClr val="bg2">
                    <a:lumMod val="50000"/>
                  </a:schemeClr>
                </a:solidFill>
                <a:latin typeface="Times New Roman" panose="02020603050405020304" pitchFamily="18" charset="0"/>
                <a:cs typeface="Times New Roman" panose="02020603050405020304" pitchFamily="18" charset="0"/>
              </a:rPr>
              <a:t>Motivation</a:t>
            </a:r>
          </a:p>
          <a:p>
            <a:r>
              <a:rPr lang="en-US" sz="1200" dirty="0">
                <a:solidFill>
                  <a:schemeClr val="bg2">
                    <a:lumMod val="50000"/>
                  </a:schemeClr>
                </a:solidFill>
                <a:latin typeface="Times New Roman" panose="02020603050405020304" pitchFamily="18" charset="0"/>
                <a:cs typeface="Times New Roman" panose="02020603050405020304" pitchFamily="18" charset="0"/>
              </a:rPr>
              <a:t>Objective</a:t>
            </a:r>
          </a:p>
          <a:p>
            <a:r>
              <a:rPr lang="en-US" sz="1200" dirty="0">
                <a:solidFill>
                  <a:schemeClr val="bg1"/>
                </a:solidFill>
                <a:latin typeface="Times New Roman" panose="02020603050405020304" pitchFamily="18" charset="0"/>
                <a:cs typeface="Times New Roman" panose="02020603050405020304" pitchFamily="18" charset="0"/>
              </a:rPr>
              <a:t>Related literature</a:t>
            </a:r>
          </a:p>
        </p:txBody>
      </p:sp>
      <p:sp>
        <p:nvSpPr>
          <p:cNvPr id="12" name="TextBox 11">
            <a:extLst>
              <a:ext uri="{FF2B5EF4-FFF2-40B4-BE49-F238E27FC236}">
                <a16:creationId xmlns:a16="http://schemas.microsoft.com/office/drawing/2014/main" id="{0056D65E-2E14-E9C6-274A-8F352EA85607}"/>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1"/>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11" name="Group 10">
            <a:extLst>
              <a:ext uri="{FF2B5EF4-FFF2-40B4-BE49-F238E27FC236}">
                <a16:creationId xmlns:a16="http://schemas.microsoft.com/office/drawing/2014/main" id="{D095D02D-AEDE-1B8D-D587-15B7431D3043}"/>
              </a:ext>
            </a:extLst>
          </p:cNvPr>
          <p:cNvGrpSpPr/>
          <p:nvPr/>
        </p:nvGrpSpPr>
        <p:grpSpPr>
          <a:xfrm>
            <a:off x="0" y="6488668"/>
            <a:ext cx="12192000" cy="369332"/>
            <a:chOff x="0" y="6488668"/>
            <a:chExt cx="12192000" cy="369332"/>
          </a:xfrm>
        </p:grpSpPr>
        <p:grpSp>
          <p:nvGrpSpPr>
            <p:cNvPr id="13" name="Group 12">
              <a:extLst>
                <a:ext uri="{FF2B5EF4-FFF2-40B4-BE49-F238E27FC236}">
                  <a16:creationId xmlns:a16="http://schemas.microsoft.com/office/drawing/2014/main" id="{E058F74E-2EC3-4D8B-A0A3-670BEFC4B826}"/>
                </a:ext>
              </a:extLst>
            </p:cNvPr>
            <p:cNvGrpSpPr/>
            <p:nvPr/>
          </p:nvGrpSpPr>
          <p:grpSpPr>
            <a:xfrm>
              <a:off x="0" y="6497514"/>
              <a:ext cx="12192000" cy="360486"/>
              <a:chOff x="0" y="6497514"/>
              <a:chExt cx="12192000" cy="360486"/>
            </a:xfrm>
          </p:grpSpPr>
          <p:sp>
            <p:nvSpPr>
              <p:cNvPr id="16" name="Rectangle 15">
                <a:extLst>
                  <a:ext uri="{FF2B5EF4-FFF2-40B4-BE49-F238E27FC236}">
                    <a16:creationId xmlns:a16="http://schemas.microsoft.com/office/drawing/2014/main" id="{C372F3CB-EAD0-FB90-BDF8-0806DC1A0EE5}"/>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7" name="Rectangle 16">
                <a:extLst>
                  <a:ext uri="{FF2B5EF4-FFF2-40B4-BE49-F238E27FC236}">
                    <a16:creationId xmlns:a16="http://schemas.microsoft.com/office/drawing/2014/main" id="{DD94E9CC-1CC6-24AC-DF09-76A7748D46EF}"/>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5" name="TextBox 14">
              <a:extLst>
                <a:ext uri="{FF2B5EF4-FFF2-40B4-BE49-F238E27FC236}">
                  <a16:creationId xmlns:a16="http://schemas.microsoft.com/office/drawing/2014/main" id="{3F8540EB-5AEB-0821-B57E-D9B26051318B}"/>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3653372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A66F-9018-BD54-BD98-FD0B4CEC23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6F8D35-5537-302D-0D01-E94737FDA7A8}"/>
              </a:ext>
            </a:extLst>
          </p:cNvPr>
          <p:cNvSpPr>
            <a:spLocks noGrp="1"/>
          </p:cNvSpPr>
          <p:nvPr>
            <p:ph idx="1"/>
          </p:nvPr>
        </p:nvSpPr>
        <p:spPr>
          <a:xfrm>
            <a:off x="243840" y="2001349"/>
            <a:ext cx="11948160" cy="4339066"/>
          </a:xfrm>
        </p:spPr>
        <p:txBody>
          <a:bodyPr>
            <a:normAutofit fontScale="92500" lnSpcReduction="20000"/>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paper draws on data from the Arab Barometer, a large repository of publicly available data covering the Middle East and North Africa. </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data comes from the region's most recent seventh round of polling, which included face-to-face interviews with respondents in their homes. It took place between October 2021 and July 2022. </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Algeria, Tunisia, Libya, Morocco, Mauritania, Jordan, Lebanon, Palestine, Iraq, Egypt, and Sudan are among the countries targeted. </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More than 26,000 citizens were interviewed by Arab Barometer on a variety of topics, including but not limited to the economy, government trust and performance, gender, education, employment and social inclusion, international relations, mobility, and migration. </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We were left with 12,959 observations after data cleaning. </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4404A639-8DA6-E766-FEA5-D51ABFC1CF5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4F0B18-B7F3-3A87-DB88-CFBBCCF2B0CB}"/>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41A95-8FD7-6468-2DCA-E553CD143BC9}"/>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Data</a:t>
            </a:r>
          </a:p>
        </p:txBody>
      </p:sp>
      <p:sp>
        <p:nvSpPr>
          <p:cNvPr id="14" name="TextBox 13">
            <a:extLst>
              <a:ext uri="{FF2B5EF4-FFF2-40B4-BE49-F238E27FC236}">
                <a16:creationId xmlns:a16="http://schemas.microsoft.com/office/drawing/2014/main" id="{5A223E2E-3844-AFAB-1C6A-45D7FAC7E665}"/>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1"/>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sp>
        <p:nvSpPr>
          <p:cNvPr id="15" name="TextBox 14">
            <a:extLst>
              <a:ext uri="{FF2B5EF4-FFF2-40B4-BE49-F238E27FC236}">
                <a16:creationId xmlns:a16="http://schemas.microsoft.com/office/drawing/2014/main" id="{A617CF72-0B8B-4768-869E-657EF6F1CA86}"/>
              </a:ext>
            </a:extLst>
          </p:cNvPr>
          <p:cNvSpPr txBox="1"/>
          <p:nvPr/>
        </p:nvSpPr>
        <p:spPr>
          <a:xfrm>
            <a:off x="6209581" y="393910"/>
            <a:ext cx="1897811" cy="646331"/>
          </a:xfrm>
          <a:prstGeom prst="rect">
            <a:avLst/>
          </a:prstGeom>
          <a:noFill/>
        </p:spPr>
        <p:txBody>
          <a:bodyPr wrap="square" rtlCol="0">
            <a:spAutoFit/>
          </a:bodyPr>
          <a:lstStyle/>
          <a:p>
            <a:r>
              <a:rPr lang="en-US" sz="1200" b="1" dirty="0">
                <a:solidFill>
                  <a:schemeClr val="bg1"/>
                </a:solidFill>
                <a:latin typeface="Times New Roman" panose="02020603050405020304" pitchFamily="18" charset="0"/>
                <a:cs typeface="Times New Roman" panose="02020603050405020304" pitchFamily="18" charset="0"/>
              </a:rPr>
              <a:t>Data</a:t>
            </a:r>
          </a:p>
          <a:p>
            <a:r>
              <a:rPr lang="en-US" sz="1200" b="1" dirty="0">
                <a:solidFill>
                  <a:schemeClr val="bg2">
                    <a:lumMod val="50000"/>
                  </a:schemeClr>
                </a:solidFill>
                <a:latin typeface="Times New Roman" panose="02020603050405020304" pitchFamily="18" charset="0"/>
                <a:cs typeface="Times New Roman" panose="02020603050405020304" pitchFamily="18" charset="0"/>
              </a:rPr>
              <a:t>Variables</a:t>
            </a:r>
          </a:p>
          <a:p>
            <a:r>
              <a:rPr lang="en-US" sz="1200" b="1" dirty="0">
                <a:solidFill>
                  <a:schemeClr val="bg2">
                    <a:lumMod val="50000"/>
                  </a:schemeClr>
                </a:solidFill>
                <a:latin typeface="Times New Roman" panose="02020603050405020304" pitchFamily="18" charset="0"/>
                <a:cs typeface="Times New Roman" panose="02020603050405020304" pitchFamily="18" charset="0"/>
              </a:rPr>
              <a:t>Summary Statistics</a:t>
            </a:r>
          </a:p>
        </p:txBody>
      </p:sp>
      <p:grpSp>
        <p:nvGrpSpPr>
          <p:cNvPr id="9" name="Group 8">
            <a:extLst>
              <a:ext uri="{FF2B5EF4-FFF2-40B4-BE49-F238E27FC236}">
                <a16:creationId xmlns:a16="http://schemas.microsoft.com/office/drawing/2014/main" id="{C036FF51-C15E-B5C0-27CE-5505C301D106}"/>
              </a:ext>
            </a:extLst>
          </p:cNvPr>
          <p:cNvGrpSpPr/>
          <p:nvPr/>
        </p:nvGrpSpPr>
        <p:grpSpPr>
          <a:xfrm>
            <a:off x="0" y="6488668"/>
            <a:ext cx="12192000" cy="369332"/>
            <a:chOff x="0" y="6488668"/>
            <a:chExt cx="12192000" cy="369332"/>
          </a:xfrm>
        </p:grpSpPr>
        <p:grpSp>
          <p:nvGrpSpPr>
            <p:cNvPr id="11" name="Group 10">
              <a:extLst>
                <a:ext uri="{FF2B5EF4-FFF2-40B4-BE49-F238E27FC236}">
                  <a16:creationId xmlns:a16="http://schemas.microsoft.com/office/drawing/2014/main" id="{974D3C37-EBED-E909-1B0E-536322CE9D95}"/>
                </a:ext>
              </a:extLst>
            </p:cNvPr>
            <p:cNvGrpSpPr/>
            <p:nvPr/>
          </p:nvGrpSpPr>
          <p:grpSpPr>
            <a:xfrm>
              <a:off x="0" y="6497514"/>
              <a:ext cx="12192000" cy="360486"/>
              <a:chOff x="0" y="6497514"/>
              <a:chExt cx="12192000" cy="360486"/>
            </a:xfrm>
          </p:grpSpPr>
          <p:sp>
            <p:nvSpPr>
              <p:cNvPr id="16" name="Rectangle 15">
                <a:extLst>
                  <a:ext uri="{FF2B5EF4-FFF2-40B4-BE49-F238E27FC236}">
                    <a16:creationId xmlns:a16="http://schemas.microsoft.com/office/drawing/2014/main" id="{D933B3D4-AA23-C03B-E374-1C7D853C6857}"/>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7" name="Rectangle 16">
                <a:extLst>
                  <a:ext uri="{FF2B5EF4-FFF2-40B4-BE49-F238E27FC236}">
                    <a16:creationId xmlns:a16="http://schemas.microsoft.com/office/drawing/2014/main" id="{9AC7AA81-B7B7-D5D1-015C-2B4139F93E5E}"/>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2" name="TextBox 11">
              <a:extLst>
                <a:ext uri="{FF2B5EF4-FFF2-40B4-BE49-F238E27FC236}">
                  <a16:creationId xmlns:a16="http://schemas.microsoft.com/office/drawing/2014/main" id="{E2A84964-036F-4D32-4B20-689545B22113}"/>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3817303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A66F-9018-BD54-BD98-FD0B4CEC23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6F8D35-5537-302D-0D01-E94737FDA7A8}"/>
              </a:ext>
            </a:extLst>
          </p:cNvPr>
          <p:cNvSpPr>
            <a:spLocks noGrp="1"/>
          </p:cNvSpPr>
          <p:nvPr>
            <p:ph idx="1"/>
          </p:nvPr>
        </p:nvSpPr>
        <p:spPr>
          <a:xfrm>
            <a:off x="243840" y="2001349"/>
            <a:ext cx="11948160" cy="4339066"/>
          </a:xfrm>
        </p:spPr>
        <p:txBody>
          <a:bodyPr>
            <a:normAutofit fontScale="77500" lnSpcReduction="20000"/>
          </a:bodyPr>
          <a:lstStyle/>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Our dependent variable (migration) is defined to be a binary variable that takes the value of one if the respondent has the willingness to migrate and the value of zero otherwise. </a:t>
            </a:r>
          </a:p>
          <a:p>
            <a:pPr>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Our study included one key independent variable (climatechange), a binary variable that captured climate change (one if the respondent believes that climate change is a big environmental challenge facing their country and zero otherwise).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other independent variables were divided into the following categories: socio-demographic and environmental factors: </a:t>
            </a:r>
          </a:p>
          <a:p>
            <a:pPr>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Socio-demographic factors: male, rural, household income, social status , employment status and age</a:t>
            </a:r>
          </a:p>
          <a:p>
            <a:pPr>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Environmental factors: water pollution, trash, lack of water resources, and government intervention</a:t>
            </a:r>
          </a:p>
          <a:p>
            <a:pPr>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Two interaction variables were added to our model.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first variable takes a continuous form and is defined as ClimateChange × Income (climatecinc)</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second variable takes a binary form and is defined as ClimateChange × Rural (climatecres)</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4404A639-8DA6-E766-FEA5-D51ABFC1CF5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4F0B18-B7F3-3A87-DB88-CFBBCCF2B0CB}"/>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41A95-8FD7-6468-2DCA-E553CD143BC9}"/>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Variables</a:t>
            </a:r>
          </a:p>
        </p:txBody>
      </p:sp>
      <p:sp>
        <p:nvSpPr>
          <p:cNvPr id="11" name="TextBox 10">
            <a:extLst>
              <a:ext uri="{FF2B5EF4-FFF2-40B4-BE49-F238E27FC236}">
                <a16:creationId xmlns:a16="http://schemas.microsoft.com/office/drawing/2014/main" id="{86E88207-3318-2075-4D48-C3721C04EEBE}"/>
              </a:ext>
            </a:extLst>
          </p:cNvPr>
          <p:cNvSpPr txBox="1"/>
          <p:nvPr/>
        </p:nvSpPr>
        <p:spPr>
          <a:xfrm>
            <a:off x="6209581" y="393910"/>
            <a:ext cx="1897811" cy="646331"/>
          </a:xfrm>
          <a:prstGeom prst="rect">
            <a:avLst/>
          </a:prstGeom>
          <a:noFill/>
        </p:spPr>
        <p:txBody>
          <a:bodyPr wrap="square" rtlCol="0">
            <a:spAutoFit/>
          </a:bodyPr>
          <a:lstStyle/>
          <a:p>
            <a:r>
              <a:rPr lang="en-US" sz="1200" b="1" dirty="0">
                <a:solidFill>
                  <a:schemeClr val="bg2">
                    <a:lumMod val="50000"/>
                  </a:schemeClr>
                </a:solidFill>
                <a:latin typeface="Times New Roman" panose="02020603050405020304" pitchFamily="18" charset="0"/>
                <a:cs typeface="Times New Roman" panose="02020603050405020304" pitchFamily="18" charset="0"/>
              </a:rPr>
              <a:t>Data</a:t>
            </a:r>
          </a:p>
          <a:p>
            <a:r>
              <a:rPr lang="en-US" sz="1200" b="1" dirty="0">
                <a:solidFill>
                  <a:schemeClr val="bg1"/>
                </a:solidFill>
                <a:latin typeface="Times New Roman" panose="02020603050405020304" pitchFamily="18" charset="0"/>
                <a:cs typeface="Times New Roman" panose="02020603050405020304" pitchFamily="18" charset="0"/>
              </a:rPr>
              <a:t>Variables</a:t>
            </a:r>
          </a:p>
          <a:p>
            <a:r>
              <a:rPr lang="en-US" sz="1200" b="1" dirty="0">
                <a:solidFill>
                  <a:schemeClr val="bg2">
                    <a:lumMod val="50000"/>
                  </a:schemeClr>
                </a:solidFill>
                <a:latin typeface="Times New Roman" panose="02020603050405020304" pitchFamily="18" charset="0"/>
                <a:cs typeface="Times New Roman" panose="02020603050405020304" pitchFamily="18" charset="0"/>
              </a:rPr>
              <a:t>Summary Statistics</a:t>
            </a:r>
          </a:p>
        </p:txBody>
      </p:sp>
      <p:sp>
        <p:nvSpPr>
          <p:cNvPr id="14" name="TextBox 13">
            <a:extLst>
              <a:ext uri="{FF2B5EF4-FFF2-40B4-BE49-F238E27FC236}">
                <a16:creationId xmlns:a16="http://schemas.microsoft.com/office/drawing/2014/main" id="{5A223E2E-3844-AFAB-1C6A-45D7FAC7E665}"/>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1"/>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9" name="Group 8">
            <a:extLst>
              <a:ext uri="{FF2B5EF4-FFF2-40B4-BE49-F238E27FC236}">
                <a16:creationId xmlns:a16="http://schemas.microsoft.com/office/drawing/2014/main" id="{E22C2D1C-836C-DD44-9C6F-8F0781F3B9A6}"/>
              </a:ext>
            </a:extLst>
          </p:cNvPr>
          <p:cNvGrpSpPr/>
          <p:nvPr/>
        </p:nvGrpSpPr>
        <p:grpSpPr>
          <a:xfrm>
            <a:off x="0" y="6488668"/>
            <a:ext cx="12192000" cy="369332"/>
            <a:chOff x="0" y="6488668"/>
            <a:chExt cx="12192000" cy="369332"/>
          </a:xfrm>
        </p:grpSpPr>
        <p:grpSp>
          <p:nvGrpSpPr>
            <p:cNvPr id="12" name="Group 11">
              <a:extLst>
                <a:ext uri="{FF2B5EF4-FFF2-40B4-BE49-F238E27FC236}">
                  <a16:creationId xmlns:a16="http://schemas.microsoft.com/office/drawing/2014/main" id="{22E73F72-4743-E66A-13C4-0515EF3DA54C}"/>
                </a:ext>
              </a:extLst>
            </p:cNvPr>
            <p:cNvGrpSpPr/>
            <p:nvPr/>
          </p:nvGrpSpPr>
          <p:grpSpPr>
            <a:xfrm>
              <a:off x="0" y="6497514"/>
              <a:ext cx="12192000" cy="360486"/>
              <a:chOff x="0" y="6497514"/>
              <a:chExt cx="12192000" cy="360486"/>
            </a:xfrm>
          </p:grpSpPr>
          <p:sp>
            <p:nvSpPr>
              <p:cNvPr id="16" name="Rectangle 15">
                <a:extLst>
                  <a:ext uri="{FF2B5EF4-FFF2-40B4-BE49-F238E27FC236}">
                    <a16:creationId xmlns:a16="http://schemas.microsoft.com/office/drawing/2014/main" id="{FC4B421D-03C3-D374-F30D-E40F78B63EA6}"/>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7" name="Rectangle 16">
                <a:extLst>
                  <a:ext uri="{FF2B5EF4-FFF2-40B4-BE49-F238E27FC236}">
                    <a16:creationId xmlns:a16="http://schemas.microsoft.com/office/drawing/2014/main" id="{A88F4DD1-147B-5215-8A95-E4B6E02CB189}"/>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5" name="TextBox 14">
              <a:extLst>
                <a:ext uri="{FF2B5EF4-FFF2-40B4-BE49-F238E27FC236}">
                  <a16:creationId xmlns:a16="http://schemas.microsoft.com/office/drawing/2014/main" id="{34550AEF-3A3B-FCD7-D59C-3917A48D5C47}"/>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1311788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A66F-9018-BD54-BD98-FD0B4CEC23C2}"/>
              </a:ext>
            </a:extLst>
          </p:cNvPr>
          <p:cNvSpPr>
            <a:spLocks noGrp="1"/>
          </p:cNvSpPr>
          <p:nvPr>
            <p:ph type="title"/>
          </p:nvPr>
        </p:nvSpPr>
        <p:spPr/>
        <p:txBody>
          <a:bodyPr/>
          <a:lstStyle/>
          <a:p>
            <a:endParaRPr lang="en-US"/>
          </a:p>
        </p:txBody>
      </p:sp>
      <p:sp>
        <p:nvSpPr>
          <p:cNvPr id="7" name="Rectangle 6">
            <a:extLst>
              <a:ext uri="{FF2B5EF4-FFF2-40B4-BE49-F238E27FC236}">
                <a16:creationId xmlns:a16="http://schemas.microsoft.com/office/drawing/2014/main" id="{4404A639-8DA6-E766-FEA5-D51ABFC1CF5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4F0B18-B7F3-3A87-DB88-CFBBCCF2B0CB}"/>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41A95-8FD7-6468-2DCA-E553CD143BC9}"/>
              </a:ext>
            </a:extLst>
          </p:cNvPr>
          <p:cNvSpPr/>
          <p:nvPr/>
        </p:nvSpPr>
        <p:spPr>
          <a:xfrm>
            <a:off x="0" y="123424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Summary Statistics</a:t>
            </a:r>
          </a:p>
        </p:txBody>
      </p:sp>
      <p:sp>
        <p:nvSpPr>
          <p:cNvPr id="11" name="TextBox 10">
            <a:extLst>
              <a:ext uri="{FF2B5EF4-FFF2-40B4-BE49-F238E27FC236}">
                <a16:creationId xmlns:a16="http://schemas.microsoft.com/office/drawing/2014/main" id="{86E88207-3318-2075-4D48-C3721C04EEBE}"/>
              </a:ext>
            </a:extLst>
          </p:cNvPr>
          <p:cNvSpPr txBox="1"/>
          <p:nvPr/>
        </p:nvSpPr>
        <p:spPr>
          <a:xfrm>
            <a:off x="6209581" y="393910"/>
            <a:ext cx="1897811" cy="646331"/>
          </a:xfrm>
          <a:prstGeom prst="rect">
            <a:avLst/>
          </a:prstGeom>
          <a:noFill/>
        </p:spPr>
        <p:txBody>
          <a:bodyPr wrap="square" rtlCol="0">
            <a:spAutoFit/>
          </a:bodyPr>
          <a:lstStyle/>
          <a:p>
            <a:r>
              <a:rPr lang="en-US" sz="1200" b="1" dirty="0">
                <a:solidFill>
                  <a:schemeClr val="bg2">
                    <a:lumMod val="50000"/>
                  </a:schemeClr>
                </a:solidFill>
                <a:latin typeface="Times New Roman" panose="02020603050405020304" pitchFamily="18" charset="0"/>
                <a:cs typeface="Times New Roman" panose="02020603050405020304" pitchFamily="18" charset="0"/>
              </a:rPr>
              <a:t>Data</a:t>
            </a:r>
          </a:p>
          <a:p>
            <a:r>
              <a:rPr lang="en-US" sz="1200" b="1" dirty="0">
                <a:solidFill>
                  <a:schemeClr val="bg2">
                    <a:lumMod val="50000"/>
                  </a:schemeClr>
                </a:solidFill>
                <a:latin typeface="Times New Roman" panose="02020603050405020304" pitchFamily="18" charset="0"/>
                <a:cs typeface="Times New Roman" panose="02020603050405020304" pitchFamily="18" charset="0"/>
              </a:rPr>
              <a:t>Variables</a:t>
            </a:r>
          </a:p>
          <a:p>
            <a:r>
              <a:rPr lang="en-US" sz="1200" b="1" dirty="0">
                <a:solidFill>
                  <a:schemeClr val="bg1"/>
                </a:solidFill>
                <a:latin typeface="Times New Roman" panose="02020603050405020304" pitchFamily="18" charset="0"/>
                <a:cs typeface="Times New Roman" panose="02020603050405020304" pitchFamily="18" charset="0"/>
              </a:rPr>
              <a:t>Summary Statistics</a:t>
            </a:r>
          </a:p>
        </p:txBody>
      </p:sp>
      <p:sp>
        <p:nvSpPr>
          <p:cNvPr id="14" name="TextBox 13">
            <a:extLst>
              <a:ext uri="{FF2B5EF4-FFF2-40B4-BE49-F238E27FC236}">
                <a16:creationId xmlns:a16="http://schemas.microsoft.com/office/drawing/2014/main" id="{5A223E2E-3844-AFAB-1C6A-45D7FAC7E665}"/>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1"/>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aphicFrame>
        <p:nvGraphicFramePr>
          <p:cNvPr id="22" name="Table 21">
            <a:extLst>
              <a:ext uri="{FF2B5EF4-FFF2-40B4-BE49-F238E27FC236}">
                <a16:creationId xmlns:a16="http://schemas.microsoft.com/office/drawing/2014/main" id="{5F89D948-8894-B848-69CA-F2B748498D12}"/>
              </a:ext>
            </a:extLst>
          </p:cNvPr>
          <p:cNvGraphicFramePr>
            <a:graphicFrameLocks noGrp="1"/>
          </p:cNvGraphicFramePr>
          <p:nvPr>
            <p:extLst>
              <p:ext uri="{D42A27DB-BD31-4B8C-83A1-F6EECF244321}">
                <p14:modId xmlns:p14="http://schemas.microsoft.com/office/powerpoint/2010/main" val="1957145056"/>
              </p:ext>
            </p:extLst>
          </p:nvPr>
        </p:nvGraphicFramePr>
        <p:xfrm>
          <a:off x="1416600" y="1848758"/>
          <a:ext cx="9585961" cy="4417468"/>
        </p:xfrm>
        <a:graphic>
          <a:graphicData uri="http://schemas.openxmlformats.org/drawingml/2006/table">
            <a:tbl>
              <a:tblPr/>
              <a:tblGrid>
                <a:gridCol w="2699407">
                  <a:extLst>
                    <a:ext uri="{9D8B030D-6E8A-4147-A177-3AD203B41FA5}">
                      <a16:colId xmlns:a16="http://schemas.microsoft.com/office/drawing/2014/main" val="3849682004"/>
                    </a:ext>
                  </a:extLst>
                </a:gridCol>
                <a:gridCol w="860820">
                  <a:extLst>
                    <a:ext uri="{9D8B030D-6E8A-4147-A177-3AD203B41FA5}">
                      <a16:colId xmlns:a16="http://schemas.microsoft.com/office/drawing/2014/main" val="3396707880"/>
                    </a:ext>
                  </a:extLst>
                </a:gridCol>
                <a:gridCol w="1506913">
                  <a:extLst>
                    <a:ext uri="{9D8B030D-6E8A-4147-A177-3AD203B41FA5}">
                      <a16:colId xmlns:a16="http://schemas.microsoft.com/office/drawing/2014/main" val="2007558165"/>
                    </a:ext>
                  </a:extLst>
                </a:gridCol>
                <a:gridCol w="1506913">
                  <a:extLst>
                    <a:ext uri="{9D8B030D-6E8A-4147-A177-3AD203B41FA5}">
                      <a16:colId xmlns:a16="http://schemas.microsoft.com/office/drawing/2014/main" val="2136443976"/>
                    </a:ext>
                  </a:extLst>
                </a:gridCol>
                <a:gridCol w="1506913">
                  <a:extLst>
                    <a:ext uri="{9D8B030D-6E8A-4147-A177-3AD203B41FA5}">
                      <a16:colId xmlns:a16="http://schemas.microsoft.com/office/drawing/2014/main" val="2505275076"/>
                    </a:ext>
                  </a:extLst>
                </a:gridCol>
                <a:gridCol w="1504995">
                  <a:extLst>
                    <a:ext uri="{9D8B030D-6E8A-4147-A177-3AD203B41FA5}">
                      <a16:colId xmlns:a16="http://schemas.microsoft.com/office/drawing/2014/main" val="3756391786"/>
                    </a:ext>
                  </a:extLst>
                </a:gridCol>
              </a:tblGrid>
              <a:tr h="232255">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Variable</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Obs</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Mean</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Std. Dev.</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Min</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Max</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881523494"/>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Migration</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.329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.47</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4015837002"/>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 Climatechange</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.119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.324</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617627499"/>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Waterpollution</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.57</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.495</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486257621"/>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Nowater</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12959</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.295</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.456</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11602628"/>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Trash</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.343</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.475</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783674915"/>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Government</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.5</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.5</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05008796"/>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Male</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.52</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.5</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18480661"/>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Youth</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.171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.376</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689238678"/>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Adults</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.772</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.42</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705303977"/>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Income</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29,024.442</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14,518.331</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0</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60,690.241</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664566595"/>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Rural</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.35</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.477</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441651377"/>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School</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.537</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.499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679244055"/>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Uni</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.206</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.405</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0</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351619939"/>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Inrel</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.65</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.477</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485603011"/>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 Employment</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.372</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.483</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91187013"/>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 Climatecinc</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95,451.6</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87,703.3</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149,982.8</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48215591"/>
                  </a:ext>
                </a:extLst>
              </a:tr>
              <a:tr h="24618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 Climatecres</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12959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.069</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.253</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a:solidFill>
                            <a:srgbClr val="000000"/>
                          </a:solidFill>
                          <a:effectLst/>
                          <a:latin typeface="Times New Roman" panose="02020603050405020304" pitchFamily="18" charset="0"/>
                          <a:cs typeface="Times New Roman" panose="02020603050405020304" pitchFamily="18" charset="0"/>
                        </a:rPr>
                        <a:t>0</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7000"/>
                        </a:lnSpc>
                        <a:spcBef>
                          <a:spcPts val="0"/>
                        </a:spcBef>
                        <a:spcAft>
                          <a:spcPts val="0"/>
                        </a:spcAft>
                      </a:pPr>
                      <a:r>
                        <a:rPr lang="en-US" sz="1200" dirty="0">
                          <a:solidFill>
                            <a:srgbClr val="000000"/>
                          </a:solidFill>
                          <a:effectLst/>
                          <a:latin typeface="Times New Roman" panose="02020603050405020304" pitchFamily="18" charset="0"/>
                          <a:cs typeface="Times New Roman" panose="02020603050405020304" pitchFamily="18" charset="0"/>
                        </a:rPr>
                        <a:t>1</a:t>
                      </a:r>
                      <a:endParaRPr lang="en-US" sz="1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008" marR="63008" marT="0" marB="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442999012"/>
                  </a:ext>
                </a:extLst>
              </a:tr>
            </a:tbl>
          </a:graphicData>
        </a:graphic>
      </p:graphicFrame>
      <p:grpSp>
        <p:nvGrpSpPr>
          <p:cNvPr id="3" name="Group 2">
            <a:extLst>
              <a:ext uri="{FF2B5EF4-FFF2-40B4-BE49-F238E27FC236}">
                <a16:creationId xmlns:a16="http://schemas.microsoft.com/office/drawing/2014/main" id="{14A7772C-7A67-C836-0046-DBD480A61A26}"/>
              </a:ext>
            </a:extLst>
          </p:cNvPr>
          <p:cNvGrpSpPr/>
          <p:nvPr/>
        </p:nvGrpSpPr>
        <p:grpSpPr>
          <a:xfrm>
            <a:off x="0" y="6488668"/>
            <a:ext cx="12192000" cy="369332"/>
            <a:chOff x="0" y="6488668"/>
            <a:chExt cx="12192000" cy="369332"/>
          </a:xfrm>
        </p:grpSpPr>
        <p:grpSp>
          <p:nvGrpSpPr>
            <p:cNvPr id="9" name="Group 8">
              <a:extLst>
                <a:ext uri="{FF2B5EF4-FFF2-40B4-BE49-F238E27FC236}">
                  <a16:creationId xmlns:a16="http://schemas.microsoft.com/office/drawing/2014/main" id="{DDF9D6B9-E6ED-282D-C19B-0BFBCF38CBD6}"/>
                </a:ext>
              </a:extLst>
            </p:cNvPr>
            <p:cNvGrpSpPr/>
            <p:nvPr/>
          </p:nvGrpSpPr>
          <p:grpSpPr>
            <a:xfrm>
              <a:off x="0" y="6497514"/>
              <a:ext cx="12192000" cy="360486"/>
              <a:chOff x="0" y="6497514"/>
              <a:chExt cx="12192000" cy="360486"/>
            </a:xfrm>
          </p:grpSpPr>
          <p:sp>
            <p:nvSpPr>
              <p:cNvPr id="15" name="Rectangle 14">
                <a:extLst>
                  <a:ext uri="{FF2B5EF4-FFF2-40B4-BE49-F238E27FC236}">
                    <a16:creationId xmlns:a16="http://schemas.microsoft.com/office/drawing/2014/main" id="{6B538405-3683-D6D7-3F3E-D34BD3893C83}"/>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6" name="Rectangle 15">
                <a:extLst>
                  <a:ext uri="{FF2B5EF4-FFF2-40B4-BE49-F238E27FC236}">
                    <a16:creationId xmlns:a16="http://schemas.microsoft.com/office/drawing/2014/main" id="{040B7162-EF75-9FC2-A32A-4C2300DB5255}"/>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2" name="TextBox 11">
              <a:extLst>
                <a:ext uri="{FF2B5EF4-FFF2-40B4-BE49-F238E27FC236}">
                  <a16:creationId xmlns:a16="http://schemas.microsoft.com/office/drawing/2014/main" id="{CEC7A06A-B6A5-B9D7-46BA-4CEE7E333424}"/>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550135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A66F-9018-BD54-BD98-FD0B4CEC23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6F8D35-5537-302D-0D01-E94737FDA7A8}"/>
              </a:ext>
            </a:extLst>
          </p:cNvPr>
          <p:cNvSpPr>
            <a:spLocks noGrp="1"/>
          </p:cNvSpPr>
          <p:nvPr>
            <p:ph idx="1"/>
          </p:nvPr>
        </p:nvSpPr>
        <p:spPr>
          <a:xfrm>
            <a:off x="838200" y="3241388"/>
            <a:ext cx="10515600" cy="4514790"/>
          </a:xfrm>
        </p:spPr>
        <p:txBody>
          <a:bodyPr>
            <a:normAutofit/>
          </a:bodyPr>
          <a:lstStyle/>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Through the empirical analysis, the model used to estimate the results is the PROBIT model as the data used is qualitative and the dependent variable is dummy</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4404A639-8DA6-E766-FEA5-D51ABFC1CF5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4F0B18-B7F3-3A87-DB88-CFBBCCF2B0CB}"/>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41A95-8FD7-6468-2DCA-E553CD143BC9}"/>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Empirical Model</a:t>
            </a:r>
          </a:p>
        </p:txBody>
      </p:sp>
      <p:sp>
        <p:nvSpPr>
          <p:cNvPr id="12" name="TextBox 11">
            <a:extLst>
              <a:ext uri="{FF2B5EF4-FFF2-40B4-BE49-F238E27FC236}">
                <a16:creationId xmlns:a16="http://schemas.microsoft.com/office/drawing/2014/main" id="{5292F0FE-2768-3B67-D2D0-E49F99AEB871}"/>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1"/>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9" name="Group 8">
            <a:extLst>
              <a:ext uri="{FF2B5EF4-FFF2-40B4-BE49-F238E27FC236}">
                <a16:creationId xmlns:a16="http://schemas.microsoft.com/office/drawing/2014/main" id="{91CEA4DF-EE0A-B676-D069-68D62144AC1B}"/>
              </a:ext>
            </a:extLst>
          </p:cNvPr>
          <p:cNvGrpSpPr/>
          <p:nvPr/>
        </p:nvGrpSpPr>
        <p:grpSpPr>
          <a:xfrm>
            <a:off x="0" y="6488668"/>
            <a:ext cx="12192000" cy="369332"/>
            <a:chOff x="0" y="6488668"/>
            <a:chExt cx="12192000" cy="369332"/>
          </a:xfrm>
        </p:grpSpPr>
        <p:grpSp>
          <p:nvGrpSpPr>
            <p:cNvPr id="11" name="Group 10">
              <a:extLst>
                <a:ext uri="{FF2B5EF4-FFF2-40B4-BE49-F238E27FC236}">
                  <a16:creationId xmlns:a16="http://schemas.microsoft.com/office/drawing/2014/main" id="{86022D85-0A80-B5AA-D0C4-0E050957A9B1}"/>
                </a:ext>
              </a:extLst>
            </p:cNvPr>
            <p:cNvGrpSpPr/>
            <p:nvPr/>
          </p:nvGrpSpPr>
          <p:grpSpPr>
            <a:xfrm>
              <a:off x="0" y="6497514"/>
              <a:ext cx="12192000" cy="360486"/>
              <a:chOff x="0" y="6497514"/>
              <a:chExt cx="12192000" cy="360486"/>
            </a:xfrm>
          </p:grpSpPr>
          <p:sp>
            <p:nvSpPr>
              <p:cNvPr id="15" name="Rectangle 14">
                <a:extLst>
                  <a:ext uri="{FF2B5EF4-FFF2-40B4-BE49-F238E27FC236}">
                    <a16:creationId xmlns:a16="http://schemas.microsoft.com/office/drawing/2014/main" id="{6BA49609-9592-0FF6-96C5-EC3E2F70855B}"/>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6" name="Rectangle 15">
                <a:extLst>
                  <a:ext uri="{FF2B5EF4-FFF2-40B4-BE49-F238E27FC236}">
                    <a16:creationId xmlns:a16="http://schemas.microsoft.com/office/drawing/2014/main" id="{8BC9E0E7-BDA3-0BA5-7A24-D270A1205025}"/>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19838A37-9833-DF36-2768-7B3395EDACE3}"/>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1224627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A66F-9018-BD54-BD98-FD0B4CEC23C2}"/>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6F8D35-5537-302D-0D01-E94737FDA7A8}"/>
                  </a:ext>
                </a:extLst>
              </p:cNvPr>
              <p:cNvSpPr>
                <a:spLocks noGrp="1"/>
              </p:cNvSpPr>
              <p:nvPr>
                <p:ph idx="1"/>
              </p:nvPr>
            </p:nvSpPr>
            <p:spPr>
              <a:xfrm>
                <a:off x="838200" y="1854685"/>
                <a:ext cx="10515600" cy="4514790"/>
              </a:xfrm>
            </p:spPr>
            <p:txBody>
              <a:bodyPr>
                <a:normAutofit/>
              </a:bodyPr>
              <a:lstStyle/>
              <a:p>
                <a:pPr marL="0" indent="0" algn="ctr">
                  <a:buNone/>
                </a:pPr>
                <a:endParaRPr lang="en-US" sz="2000" b="1" dirty="0">
                  <a:latin typeface="Times New Roman" panose="02020603050405020304" pitchFamily="18" charset="0"/>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US" sz="2400" b="1" i="1" dirty="0" smtClean="0">
                              <a:latin typeface="Cambria Math" panose="02040503050406030204" pitchFamily="18" charset="0"/>
                              <a:cs typeface="Times New Roman" panose="02020603050405020304" pitchFamily="18" charset="0"/>
                            </a:rPr>
                          </m:ctrlPr>
                        </m:sSubPr>
                        <m:e>
                          <m:r>
                            <a:rPr lang="en-US" sz="2400" b="1" i="1" dirty="0" smtClean="0">
                              <a:latin typeface="Cambria Math" panose="02040503050406030204" pitchFamily="18" charset="0"/>
                              <a:cs typeface="Times New Roman" panose="02020603050405020304" pitchFamily="18" charset="0"/>
                            </a:rPr>
                            <m:t>𝑴</m:t>
                          </m:r>
                        </m:e>
                        <m:sub>
                          <m:r>
                            <a:rPr lang="en-US" sz="2400" b="1" i="1" dirty="0" smtClean="0">
                              <a:latin typeface="Cambria Math" panose="02040503050406030204" pitchFamily="18" charset="0"/>
                              <a:cs typeface="Times New Roman" panose="02020603050405020304" pitchFamily="18" charset="0"/>
                            </a:rPr>
                            <m:t>𝒊</m:t>
                          </m:r>
                        </m:sub>
                      </m:sSub>
                      <m:r>
                        <a:rPr lang="en-US" sz="2400" b="1" i="1" dirty="0" smtClean="0">
                          <a:latin typeface="Cambria Math" panose="02040503050406030204" pitchFamily="18" charset="0"/>
                          <a:cs typeface="Times New Roman" panose="02020603050405020304" pitchFamily="18" charset="0"/>
                        </a:rPr>
                        <m:t>= </m:t>
                      </m:r>
                      <m:r>
                        <a:rPr lang="en-US" sz="2400" b="1" i="1" dirty="0" smtClean="0">
                          <a:latin typeface="Cambria Math" panose="02040503050406030204" pitchFamily="18" charset="0"/>
                          <a:cs typeface="Times New Roman" panose="02020603050405020304" pitchFamily="18" charset="0"/>
                        </a:rPr>
                        <m:t>𝒄𝒍𝒊𝒎𝒂𝒕𝒆𝒄𝒉𝒂𝒏𝒈𝒆</m:t>
                      </m:r>
                      <m:r>
                        <a:rPr lang="en-US" sz="2400" b="1" i="1" dirty="0" smtClean="0">
                          <a:latin typeface="Cambria Math" panose="02040503050406030204" pitchFamily="18" charset="0"/>
                          <a:cs typeface="Times New Roman" panose="02020603050405020304" pitchFamily="18" charset="0"/>
                        </a:rPr>
                        <m:t> </m:t>
                      </m:r>
                      <m:r>
                        <a:rPr lang="en-US" sz="2400" b="1" i="1" dirty="0" smtClean="0">
                          <a:latin typeface="Cambria Math" panose="02040503050406030204" pitchFamily="18" charset="0"/>
                          <a:cs typeface="Times New Roman" panose="02020603050405020304" pitchFamily="18" charset="0"/>
                        </a:rPr>
                        <m:t>𝜶</m:t>
                      </m:r>
                      <m:r>
                        <a:rPr lang="en-US" sz="2400" b="1" i="1" dirty="0" smtClean="0">
                          <a:latin typeface="Cambria Math" panose="02040503050406030204" pitchFamily="18" charset="0"/>
                          <a:cs typeface="Times New Roman" panose="02020603050405020304" pitchFamily="18" charset="0"/>
                        </a:rPr>
                        <m:t> + </m:t>
                      </m:r>
                      <m:sSub>
                        <m:sSubPr>
                          <m:ctrlPr>
                            <a:rPr lang="en-US" sz="2400" b="1" i="1" dirty="0" err="1" smtClean="0">
                              <a:latin typeface="Cambria Math" panose="02040503050406030204" pitchFamily="18" charset="0"/>
                              <a:cs typeface="Times New Roman" panose="02020603050405020304" pitchFamily="18" charset="0"/>
                            </a:rPr>
                          </m:ctrlPr>
                        </m:sSubPr>
                        <m:e>
                          <m:r>
                            <a:rPr lang="en-US" sz="2400" b="1" i="1" dirty="0" err="1" smtClean="0">
                              <a:latin typeface="Cambria Math" panose="02040503050406030204" pitchFamily="18" charset="0"/>
                              <a:cs typeface="Times New Roman" panose="02020603050405020304" pitchFamily="18" charset="0"/>
                            </a:rPr>
                            <m:t>𝑿</m:t>
                          </m:r>
                        </m:e>
                        <m:sub>
                          <m:r>
                            <a:rPr lang="en-US" sz="2400" b="1" i="1" dirty="0" err="1" smtClean="0">
                              <a:latin typeface="Cambria Math" panose="02040503050406030204" pitchFamily="18" charset="0"/>
                              <a:cs typeface="Times New Roman" panose="02020603050405020304" pitchFamily="18" charset="0"/>
                            </a:rPr>
                            <m:t>𝒊</m:t>
                          </m:r>
                        </m:sub>
                      </m:sSub>
                      <m:r>
                        <a:rPr lang="en-US" sz="2400" b="1" i="1" dirty="0" smtClean="0">
                          <a:latin typeface="Cambria Math" panose="02040503050406030204" pitchFamily="18" charset="0"/>
                          <a:cs typeface="Times New Roman" panose="02020603050405020304" pitchFamily="18" charset="0"/>
                        </a:rPr>
                        <m:t> </m:t>
                      </m:r>
                      <m:r>
                        <a:rPr lang="en-US" sz="2400" b="1" i="1" dirty="0" smtClean="0">
                          <a:latin typeface="Cambria Math" panose="02040503050406030204" pitchFamily="18" charset="0"/>
                          <a:cs typeface="Times New Roman" panose="02020603050405020304" pitchFamily="18" charset="0"/>
                        </a:rPr>
                        <m:t>𝜷</m:t>
                      </m:r>
                      <m:r>
                        <a:rPr lang="en-US" sz="2400" b="1" i="1" dirty="0" smtClean="0">
                          <a:latin typeface="Cambria Math" panose="02040503050406030204" pitchFamily="18" charset="0"/>
                          <a:cs typeface="Times New Roman" panose="02020603050405020304" pitchFamily="18" charset="0"/>
                        </a:rPr>
                        <m:t> + </m:t>
                      </m:r>
                      <m:sSub>
                        <m:sSubPr>
                          <m:ctrlPr>
                            <a:rPr lang="en-US" sz="2400" b="1" i="1" dirty="0" err="1" smtClean="0">
                              <a:latin typeface="Cambria Math" panose="02040503050406030204" pitchFamily="18" charset="0"/>
                              <a:cs typeface="Times New Roman" panose="02020603050405020304" pitchFamily="18" charset="0"/>
                            </a:rPr>
                          </m:ctrlPr>
                        </m:sSubPr>
                        <m:e>
                          <m:r>
                            <a:rPr lang="en-US" sz="2400" b="1" i="1" dirty="0" err="1" smtClean="0">
                              <a:latin typeface="Cambria Math" panose="02040503050406030204" pitchFamily="18" charset="0"/>
                              <a:cs typeface="Times New Roman" panose="02020603050405020304" pitchFamily="18" charset="0"/>
                            </a:rPr>
                            <m:t>𝒀</m:t>
                          </m:r>
                        </m:e>
                        <m:sub>
                          <m:r>
                            <a:rPr lang="en-US" sz="2400" b="1" i="1" dirty="0" err="1" smtClean="0">
                              <a:latin typeface="Cambria Math" panose="02040503050406030204" pitchFamily="18" charset="0"/>
                              <a:cs typeface="Times New Roman" panose="02020603050405020304" pitchFamily="18" charset="0"/>
                            </a:rPr>
                            <m:t>𝒊</m:t>
                          </m:r>
                        </m:sub>
                      </m:sSub>
                      <m:r>
                        <a:rPr lang="en-US" sz="2400" b="1" i="1" dirty="0" smtClean="0">
                          <a:latin typeface="Cambria Math" panose="02040503050406030204" pitchFamily="18" charset="0"/>
                          <a:cs typeface="Times New Roman" panose="02020603050405020304" pitchFamily="18" charset="0"/>
                        </a:rPr>
                        <m:t> </m:t>
                      </m:r>
                      <m:r>
                        <a:rPr lang="en-US" sz="2400" b="1" i="1" dirty="0" smtClean="0">
                          <a:latin typeface="Cambria Math" panose="02040503050406030204" pitchFamily="18" charset="0"/>
                          <a:cs typeface="Times New Roman" panose="02020603050405020304" pitchFamily="18" charset="0"/>
                        </a:rPr>
                        <m:t>𝜸</m:t>
                      </m:r>
                      <m:r>
                        <a:rPr lang="en-US" sz="2400" b="1" i="1" dirty="0" smtClean="0">
                          <a:latin typeface="Cambria Math" panose="02040503050406030204" pitchFamily="18" charset="0"/>
                          <a:cs typeface="Times New Roman" panose="02020603050405020304" pitchFamily="18" charset="0"/>
                        </a:rPr>
                        <m:t> +</m:t>
                      </m:r>
                      <m:sSub>
                        <m:sSubPr>
                          <m:ctrlPr>
                            <a:rPr lang="en-US" sz="2400" b="1" i="1" dirty="0" err="1" smtClean="0">
                              <a:latin typeface="Cambria Math" panose="02040503050406030204" pitchFamily="18" charset="0"/>
                              <a:cs typeface="Times New Roman" panose="02020603050405020304" pitchFamily="18" charset="0"/>
                            </a:rPr>
                          </m:ctrlPr>
                        </m:sSubPr>
                        <m:e>
                          <m:r>
                            <a:rPr lang="en-US" sz="2400" b="1" i="1" dirty="0" err="1" smtClean="0">
                              <a:latin typeface="Cambria Math" panose="02040503050406030204" pitchFamily="18" charset="0"/>
                              <a:cs typeface="Times New Roman" panose="02020603050405020304" pitchFamily="18" charset="0"/>
                            </a:rPr>
                            <m:t>𝒁</m:t>
                          </m:r>
                        </m:e>
                        <m:sub>
                          <m:r>
                            <a:rPr lang="en-US" sz="2400" b="1" i="1" dirty="0" err="1" smtClean="0">
                              <a:latin typeface="Cambria Math" panose="02040503050406030204" pitchFamily="18" charset="0"/>
                              <a:cs typeface="Times New Roman" panose="02020603050405020304" pitchFamily="18" charset="0"/>
                            </a:rPr>
                            <m:t>𝒊</m:t>
                          </m:r>
                        </m:sub>
                      </m:sSub>
                      <m:r>
                        <a:rPr lang="en-US" sz="2400" b="1" i="1" dirty="0" smtClean="0">
                          <a:latin typeface="Cambria Math" panose="02040503050406030204" pitchFamily="18" charset="0"/>
                          <a:cs typeface="Times New Roman" panose="02020603050405020304" pitchFamily="18" charset="0"/>
                        </a:rPr>
                        <m:t> </m:t>
                      </m:r>
                      <m:r>
                        <a:rPr lang="en-US" sz="2400" b="1" i="1" dirty="0" smtClean="0">
                          <a:latin typeface="Cambria Math" panose="02040503050406030204" pitchFamily="18" charset="0"/>
                          <a:cs typeface="Times New Roman" panose="02020603050405020304" pitchFamily="18" charset="0"/>
                        </a:rPr>
                        <m:t>𝜹</m:t>
                      </m:r>
                      <m:r>
                        <a:rPr lang="en-US" sz="2400" b="1" i="1" dirty="0" smtClean="0">
                          <a:latin typeface="Cambria Math" panose="02040503050406030204" pitchFamily="18" charset="0"/>
                          <a:cs typeface="Times New Roman" panose="02020603050405020304" pitchFamily="18" charset="0"/>
                        </a:rPr>
                        <m:t> + </m:t>
                      </m:r>
                      <m:sSub>
                        <m:sSubPr>
                          <m:ctrlPr>
                            <a:rPr lang="en-US" sz="2400" b="1" i="1" dirty="0" err="1" smtClean="0">
                              <a:latin typeface="Cambria Math" panose="02040503050406030204" pitchFamily="18" charset="0"/>
                              <a:cs typeface="Times New Roman" panose="02020603050405020304" pitchFamily="18" charset="0"/>
                            </a:rPr>
                          </m:ctrlPr>
                        </m:sSubPr>
                        <m:e>
                          <m:r>
                            <a:rPr lang="en-US" sz="2400" b="1" i="1" dirty="0" err="1" smtClean="0">
                              <a:latin typeface="Cambria Math" panose="02040503050406030204" pitchFamily="18" charset="0"/>
                              <a:cs typeface="Times New Roman" panose="02020603050405020304" pitchFamily="18" charset="0"/>
                            </a:rPr>
                            <m:t>𝜺</m:t>
                          </m:r>
                        </m:e>
                        <m:sub>
                          <m:r>
                            <a:rPr lang="en-US" sz="2400" b="1" i="1" dirty="0" err="1" smtClean="0">
                              <a:latin typeface="Cambria Math" panose="02040503050406030204" pitchFamily="18" charset="0"/>
                              <a:cs typeface="Times New Roman" panose="02020603050405020304" pitchFamily="18" charset="0"/>
                            </a:rPr>
                            <m:t>𝒊</m:t>
                          </m:r>
                        </m:sub>
                      </m:sSub>
                    </m:oMath>
                  </m:oMathPara>
                </a14:m>
                <a:endParaRPr lang="en-US" sz="2400" b="1" dirty="0">
                  <a:latin typeface="Times New Roman" panose="02020603050405020304" pitchFamily="18" charset="0"/>
                  <a:cs typeface="Times New Roman" panose="02020603050405020304" pitchFamily="18" charset="0"/>
                </a:endParaRPr>
              </a:p>
              <a:p>
                <a:pPr marL="0" indent="0" algn="ctr">
                  <a:buNone/>
                </a:pPr>
                <a:endParaRPr lang="en-US" sz="20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where, Mi represents the willingness to migrate with the likely value zero for no willingness and one otherwise. </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Climatechange is the key independent variable with α being its coefficient. </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Xi = [ Xi0, Xi1, Xi2, …, Xik] is a vector that encompasses the other environmental variables of the study. β = [ β0, β1, β2, …., βk] is a vector provides the coefficients of the related environmental factor.</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Yi = [ Yi0, Yi1, Yi2, …, </a:t>
                </a:r>
                <a:r>
                  <a:rPr lang="en-US" sz="1600" dirty="0" err="1">
                    <a:latin typeface="Times New Roman" panose="02020603050405020304" pitchFamily="18" charset="0"/>
                    <a:cs typeface="Times New Roman" panose="02020603050405020304" pitchFamily="18" charset="0"/>
                  </a:rPr>
                  <a:t>Yiq</a:t>
                </a:r>
                <a:r>
                  <a:rPr lang="en-US" sz="1600" dirty="0">
                    <a:latin typeface="Times New Roman" panose="02020603050405020304" pitchFamily="18" charset="0"/>
                    <a:cs typeface="Times New Roman" panose="02020603050405020304" pitchFamily="18" charset="0"/>
                  </a:rPr>
                  <a:t>] is a vector that encompasses the socio-demographic variables of the study.  γ = [γ0, γ1, γ2, …., </a:t>
                </a:r>
                <a:r>
                  <a:rPr lang="en-US" sz="1600" dirty="0" err="1">
                    <a:latin typeface="Times New Roman" panose="02020603050405020304" pitchFamily="18" charset="0"/>
                    <a:cs typeface="Times New Roman" panose="02020603050405020304" pitchFamily="18" charset="0"/>
                  </a:rPr>
                  <a:t>γq</a:t>
                </a:r>
                <a:r>
                  <a:rPr lang="en-US" sz="1600" dirty="0">
                    <a:latin typeface="Times New Roman" panose="02020603050405020304" pitchFamily="18" charset="0"/>
                    <a:cs typeface="Times New Roman" panose="02020603050405020304" pitchFamily="18" charset="0"/>
                  </a:rPr>
                  <a:t>] is a vector that provides the coefficients of the related socio-demographic factor.</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Similarly, Zi = [ Zi0, Zi1] is a vector that encompasses some interaction variables (climate change with each of income and residence (rural)). δ = [δ0, δ1] is a vector that provides the coefficients of the related socio-demographic factor.</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Eventually</a:t>
                </a:r>
                <a14:m>
                  <m:oMath xmlns:m="http://schemas.openxmlformats.org/officeDocument/2006/math">
                    <m:r>
                      <a:rPr lang="en-US" sz="1600" i="1" dirty="0" smtClean="0">
                        <a:latin typeface="Cambria Math" panose="02040503050406030204" pitchFamily="18" charset="0"/>
                        <a:cs typeface="Times New Roman" panose="02020603050405020304" pitchFamily="18" charset="0"/>
                      </a:rPr>
                      <m:t>, </m:t>
                    </m:r>
                    <m:sSub>
                      <m:sSubPr>
                        <m:ctrlPr>
                          <a:rPr lang="en-US" sz="1600" i="1" dirty="0" err="1">
                            <a:latin typeface="Cambria Math" panose="02040503050406030204" pitchFamily="18" charset="0"/>
                            <a:cs typeface="Times New Roman" panose="02020603050405020304" pitchFamily="18" charset="0"/>
                          </a:rPr>
                        </m:ctrlPr>
                      </m:sSubPr>
                      <m:e>
                        <m:r>
                          <a:rPr lang="en-US" sz="1600" i="1" dirty="0" err="1">
                            <a:latin typeface="Cambria Math" panose="02040503050406030204" pitchFamily="18" charset="0"/>
                            <a:cs typeface="Times New Roman" panose="02020603050405020304" pitchFamily="18" charset="0"/>
                          </a:rPr>
                          <m:t>𝜀</m:t>
                        </m:r>
                      </m:e>
                      <m:sub>
                        <m:r>
                          <a:rPr lang="en-US" sz="1600" i="1" dirty="0" err="1">
                            <a:latin typeface="Cambria Math" panose="02040503050406030204" pitchFamily="18" charset="0"/>
                            <a:cs typeface="Times New Roman" panose="02020603050405020304" pitchFamily="18" charset="0"/>
                          </a:rPr>
                          <m:t>𝑖</m:t>
                        </m:r>
                      </m:sub>
                    </m:sSub>
                    <m:r>
                      <a:rPr lang="en-US" sz="1600" i="1" dirty="0">
                        <a:latin typeface="Cambria Math" panose="02040503050406030204" pitchFamily="18" charset="0"/>
                        <a:cs typeface="Times New Roman" panose="02020603050405020304" pitchFamily="18" charset="0"/>
                      </a:rPr>
                      <m:t> </m:t>
                    </m:r>
                  </m:oMath>
                </a14:m>
                <a:r>
                  <a:rPr lang="en-US" sz="1600" dirty="0">
                    <a:latin typeface="Times New Roman" panose="02020603050405020304" pitchFamily="18" charset="0"/>
                    <a:cs typeface="Times New Roman" panose="02020603050405020304" pitchFamily="18" charset="0"/>
                  </a:rPr>
                  <a:t>is the error term, assumed to have a standard normal distribution. </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Marginal effects are calculated to present the sign and magnitude of the change in the willingness to migrate relative to the change in the independent variables. </a:t>
                </a:r>
              </a:p>
              <a:p>
                <a:pPr>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3C6F8D35-5537-302D-0D01-E94737FDA7A8}"/>
                  </a:ext>
                </a:extLst>
              </p:cNvPr>
              <p:cNvSpPr>
                <a:spLocks noGrp="1" noRot="1" noChangeAspect="1" noMove="1" noResize="1" noEditPoints="1" noAdjustHandles="1" noChangeArrowheads="1" noChangeShapeType="1" noTextEdit="1"/>
              </p:cNvSpPr>
              <p:nvPr>
                <p:ph idx="1"/>
              </p:nvPr>
            </p:nvSpPr>
            <p:spPr>
              <a:xfrm>
                <a:off x="838200" y="1854685"/>
                <a:ext cx="10515600" cy="4514790"/>
              </a:xfrm>
              <a:blipFill>
                <a:blip r:embed="rId2"/>
                <a:stretch>
                  <a:fillRect l="-232" r="-290"/>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4404A639-8DA6-E766-FEA5-D51ABFC1CF5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4F0B18-B7F3-3A87-DB88-CFBBCCF2B0CB}"/>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41A95-8FD7-6468-2DCA-E553CD143BC9}"/>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Empirical Model</a:t>
            </a:r>
          </a:p>
        </p:txBody>
      </p:sp>
      <p:sp>
        <p:nvSpPr>
          <p:cNvPr id="12" name="TextBox 11">
            <a:extLst>
              <a:ext uri="{FF2B5EF4-FFF2-40B4-BE49-F238E27FC236}">
                <a16:creationId xmlns:a16="http://schemas.microsoft.com/office/drawing/2014/main" id="{5292F0FE-2768-3B67-D2D0-E49F99AEB871}"/>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1"/>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9" name="Group 8">
            <a:extLst>
              <a:ext uri="{FF2B5EF4-FFF2-40B4-BE49-F238E27FC236}">
                <a16:creationId xmlns:a16="http://schemas.microsoft.com/office/drawing/2014/main" id="{EF40CBE5-CE7B-B5EA-1300-37EFD7CF575A}"/>
              </a:ext>
            </a:extLst>
          </p:cNvPr>
          <p:cNvGrpSpPr/>
          <p:nvPr/>
        </p:nvGrpSpPr>
        <p:grpSpPr>
          <a:xfrm>
            <a:off x="0" y="6488668"/>
            <a:ext cx="12192000" cy="369332"/>
            <a:chOff x="0" y="6488668"/>
            <a:chExt cx="12192000" cy="369332"/>
          </a:xfrm>
        </p:grpSpPr>
        <p:grpSp>
          <p:nvGrpSpPr>
            <p:cNvPr id="11" name="Group 10">
              <a:extLst>
                <a:ext uri="{FF2B5EF4-FFF2-40B4-BE49-F238E27FC236}">
                  <a16:creationId xmlns:a16="http://schemas.microsoft.com/office/drawing/2014/main" id="{0CFD1D5B-1885-EBBB-375F-B27A867D3376}"/>
                </a:ext>
              </a:extLst>
            </p:cNvPr>
            <p:cNvGrpSpPr/>
            <p:nvPr/>
          </p:nvGrpSpPr>
          <p:grpSpPr>
            <a:xfrm>
              <a:off x="0" y="6497514"/>
              <a:ext cx="12192000" cy="360486"/>
              <a:chOff x="0" y="6497514"/>
              <a:chExt cx="12192000" cy="360486"/>
            </a:xfrm>
          </p:grpSpPr>
          <p:sp>
            <p:nvSpPr>
              <p:cNvPr id="15" name="Rectangle 14">
                <a:extLst>
                  <a:ext uri="{FF2B5EF4-FFF2-40B4-BE49-F238E27FC236}">
                    <a16:creationId xmlns:a16="http://schemas.microsoft.com/office/drawing/2014/main" id="{2DACC254-EB4F-41FA-9B46-883A1BEC4990}"/>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6" name="Rectangle 15">
                <a:extLst>
                  <a:ext uri="{FF2B5EF4-FFF2-40B4-BE49-F238E27FC236}">
                    <a16:creationId xmlns:a16="http://schemas.microsoft.com/office/drawing/2014/main" id="{F7F245E2-835F-FAAF-4E20-99625CC5471F}"/>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4E4EBB05-87D8-040B-DD68-FECE4C49700C}"/>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3449578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A66F-9018-BD54-BD98-FD0B4CEC23C2}"/>
              </a:ext>
            </a:extLst>
          </p:cNvPr>
          <p:cNvSpPr>
            <a:spLocks noGrp="1"/>
          </p:cNvSpPr>
          <p:nvPr>
            <p:ph type="title"/>
          </p:nvPr>
        </p:nvSpPr>
        <p:spPr/>
        <p:txBody>
          <a:bodyPr/>
          <a:lstStyle/>
          <a:p>
            <a:endParaRPr lang="en-US"/>
          </a:p>
        </p:txBody>
      </p:sp>
      <p:sp>
        <p:nvSpPr>
          <p:cNvPr id="7" name="Rectangle 6">
            <a:extLst>
              <a:ext uri="{FF2B5EF4-FFF2-40B4-BE49-F238E27FC236}">
                <a16:creationId xmlns:a16="http://schemas.microsoft.com/office/drawing/2014/main" id="{4404A639-8DA6-E766-FEA5-D51ABFC1CF5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4F0B18-B7F3-3A87-DB88-CFBBCCF2B0CB}"/>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41A95-8FD7-6468-2DCA-E553CD143BC9}"/>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Empirical Results</a:t>
            </a:r>
          </a:p>
        </p:txBody>
      </p:sp>
      <p:sp>
        <p:nvSpPr>
          <p:cNvPr id="12" name="TextBox 11">
            <a:extLst>
              <a:ext uri="{FF2B5EF4-FFF2-40B4-BE49-F238E27FC236}">
                <a16:creationId xmlns:a16="http://schemas.microsoft.com/office/drawing/2014/main" id="{DD48B1D4-2B2D-167E-6859-D3DB701682E1}"/>
              </a:ext>
            </a:extLst>
          </p:cNvPr>
          <p:cNvSpPr txBox="1"/>
          <p:nvPr/>
        </p:nvSpPr>
        <p:spPr>
          <a:xfrm>
            <a:off x="838200" y="2081090"/>
            <a:ext cx="2951584" cy="3939540"/>
          </a:xfrm>
          <a:prstGeom prst="rect">
            <a:avLst/>
          </a:prstGeom>
          <a:noFill/>
        </p:spPr>
        <p:txBody>
          <a:bodyPr wrap="square" rtlCol="0">
            <a:spAutoFit/>
          </a:bodyPr>
          <a:lstStyle/>
          <a:p>
            <a:pPr marL="171450" indent="-171450">
              <a:buFont typeface="Wingdings" panose="05000000000000000000" pitchFamily="2" charset="2"/>
              <a:buChar char="Ø"/>
            </a:pPr>
            <a:r>
              <a:rPr lang="en-US" sz="1400" dirty="0">
                <a:solidFill>
                  <a:srgbClr val="000000"/>
                </a:solidFill>
                <a:latin typeface="Times New Roman" panose="02020603050405020304" pitchFamily="18" charset="0"/>
                <a:cs typeface="Times New Roman" panose="02020603050405020304" pitchFamily="18" charset="0"/>
              </a:rPr>
              <a:t>Model 1 contains only the key independent variable, climate change.</a:t>
            </a:r>
          </a:p>
          <a:p>
            <a:endParaRPr lang="en-US" sz="1400" dirty="0">
              <a:solidFill>
                <a:srgbClr val="000000"/>
              </a:solidFill>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Ø"/>
            </a:pPr>
            <a:r>
              <a:rPr lang="en-US" sz="1400" dirty="0">
                <a:solidFill>
                  <a:srgbClr val="000000"/>
                </a:solidFill>
                <a:latin typeface="Times New Roman" panose="02020603050405020304" pitchFamily="18" charset="0"/>
                <a:cs typeface="Times New Roman" panose="02020603050405020304" pitchFamily="18" charset="0"/>
              </a:rPr>
              <a:t>Model 2 adds the other environmental factors to model 1.</a:t>
            </a:r>
          </a:p>
          <a:p>
            <a:endParaRPr lang="en-US" sz="1400" dirty="0">
              <a:solidFill>
                <a:srgbClr val="000000"/>
              </a:solidFill>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Ø"/>
            </a:pPr>
            <a:r>
              <a:rPr lang="en-US" sz="1400" dirty="0">
                <a:solidFill>
                  <a:srgbClr val="000000"/>
                </a:solidFill>
                <a:latin typeface="Times New Roman" panose="02020603050405020304" pitchFamily="18" charset="0"/>
                <a:cs typeface="Times New Roman" panose="02020603050405020304" pitchFamily="18" charset="0"/>
              </a:rPr>
              <a:t>Model 3 adds the socio-demographic variables, excluding income and residence to model 2.</a:t>
            </a:r>
          </a:p>
          <a:p>
            <a:endParaRPr lang="en-US" sz="1400" dirty="0">
              <a:solidFill>
                <a:srgbClr val="000000"/>
              </a:solidFill>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Ø"/>
            </a:pPr>
            <a:r>
              <a:rPr lang="en-US" sz="1400" dirty="0">
                <a:solidFill>
                  <a:srgbClr val="000000"/>
                </a:solidFill>
                <a:latin typeface="Times New Roman" panose="02020603050405020304" pitchFamily="18" charset="0"/>
                <a:cs typeface="Times New Roman" panose="02020603050405020304" pitchFamily="18" charset="0"/>
              </a:rPr>
              <a:t>Model 4 adds to the model 3 both income and residence.</a:t>
            </a:r>
          </a:p>
          <a:p>
            <a:endParaRPr lang="en-US" sz="1400" dirty="0">
              <a:solidFill>
                <a:srgbClr val="000000"/>
              </a:solidFill>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Ø"/>
            </a:pPr>
            <a:r>
              <a:rPr lang="en-US" sz="1400" dirty="0">
                <a:solidFill>
                  <a:srgbClr val="000000"/>
                </a:solidFill>
                <a:latin typeface="Times New Roman" panose="02020603050405020304" pitchFamily="18" charset="0"/>
                <a:cs typeface="Times New Roman" panose="02020603050405020304" pitchFamily="18" charset="0"/>
              </a:rPr>
              <a:t>Model 5 includes income and residence as interaction variables each with climate change.</a:t>
            </a:r>
          </a:p>
          <a:p>
            <a:endParaRPr lang="en-US" sz="1200" dirty="0">
              <a:solidFill>
                <a:srgbClr val="002060"/>
              </a:solidFill>
            </a:endParaRPr>
          </a:p>
        </p:txBody>
      </p:sp>
      <p:pic>
        <p:nvPicPr>
          <p:cNvPr id="18" name="Picture 17">
            <a:extLst>
              <a:ext uri="{FF2B5EF4-FFF2-40B4-BE49-F238E27FC236}">
                <a16:creationId xmlns:a16="http://schemas.microsoft.com/office/drawing/2014/main" id="{6F5519E2-1A87-4958-151D-3DFF9FFADFA3}"/>
              </a:ext>
            </a:extLst>
          </p:cNvPr>
          <p:cNvPicPr>
            <a:picLocks noChangeAspect="1"/>
          </p:cNvPicPr>
          <p:nvPr/>
        </p:nvPicPr>
        <p:blipFill>
          <a:blip r:embed="rId3"/>
          <a:stretch>
            <a:fillRect/>
          </a:stretch>
        </p:blipFill>
        <p:spPr>
          <a:xfrm>
            <a:off x="4036054" y="1951284"/>
            <a:ext cx="7874454" cy="3841444"/>
          </a:xfrm>
          <a:prstGeom prst="rect">
            <a:avLst/>
          </a:prstGeom>
        </p:spPr>
      </p:pic>
      <p:sp>
        <p:nvSpPr>
          <p:cNvPr id="19" name="TextBox 18">
            <a:extLst>
              <a:ext uri="{FF2B5EF4-FFF2-40B4-BE49-F238E27FC236}">
                <a16:creationId xmlns:a16="http://schemas.microsoft.com/office/drawing/2014/main" id="{4E90DA67-0345-4278-866A-5079AA683E55}"/>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1"/>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3" name="Group 2">
            <a:extLst>
              <a:ext uri="{FF2B5EF4-FFF2-40B4-BE49-F238E27FC236}">
                <a16:creationId xmlns:a16="http://schemas.microsoft.com/office/drawing/2014/main" id="{83CE92B2-C612-4A82-5BA5-E957D3606096}"/>
              </a:ext>
            </a:extLst>
          </p:cNvPr>
          <p:cNvGrpSpPr/>
          <p:nvPr/>
        </p:nvGrpSpPr>
        <p:grpSpPr>
          <a:xfrm>
            <a:off x="0" y="6488668"/>
            <a:ext cx="12192000" cy="369332"/>
            <a:chOff x="0" y="6488668"/>
            <a:chExt cx="12192000" cy="369332"/>
          </a:xfrm>
        </p:grpSpPr>
        <p:grpSp>
          <p:nvGrpSpPr>
            <p:cNvPr id="9" name="Group 8">
              <a:extLst>
                <a:ext uri="{FF2B5EF4-FFF2-40B4-BE49-F238E27FC236}">
                  <a16:creationId xmlns:a16="http://schemas.microsoft.com/office/drawing/2014/main" id="{4CB60CAE-68B5-0D07-B1E2-E0DA20ABD8A0}"/>
                </a:ext>
              </a:extLst>
            </p:cNvPr>
            <p:cNvGrpSpPr/>
            <p:nvPr/>
          </p:nvGrpSpPr>
          <p:grpSpPr>
            <a:xfrm>
              <a:off x="0" y="6497514"/>
              <a:ext cx="12192000" cy="360486"/>
              <a:chOff x="0" y="6497514"/>
              <a:chExt cx="12192000" cy="360486"/>
            </a:xfrm>
          </p:grpSpPr>
          <p:sp>
            <p:nvSpPr>
              <p:cNvPr id="13" name="Rectangle 12">
                <a:extLst>
                  <a:ext uri="{FF2B5EF4-FFF2-40B4-BE49-F238E27FC236}">
                    <a16:creationId xmlns:a16="http://schemas.microsoft.com/office/drawing/2014/main" id="{D72AAFCA-4D02-DD92-2905-518CE2072E0E}"/>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4" name="Rectangle 13">
                <a:extLst>
                  <a:ext uri="{FF2B5EF4-FFF2-40B4-BE49-F238E27FC236}">
                    <a16:creationId xmlns:a16="http://schemas.microsoft.com/office/drawing/2014/main" id="{CD379CA7-4FA1-D5CF-4D16-EDC7FE69529F}"/>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1" name="TextBox 10">
              <a:extLst>
                <a:ext uri="{FF2B5EF4-FFF2-40B4-BE49-F238E27FC236}">
                  <a16:creationId xmlns:a16="http://schemas.microsoft.com/office/drawing/2014/main" id="{7F0644E7-45B4-3843-5637-227894AFFD98}"/>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2913078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A66F-9018-BD54-BD98-FD0B4CEC23C2}"/>
              </a:ext>
            </a:extLst>
          </p:cNvPr>
          <p:cNvSpPr>
            <a:spLocks noGrp="1"/>
          </p:cNvSpPr>
          <p:nvPr>
            <p:ph type="title"/>
          </p:nvPr>
        </p:nvSpPr>
        <p:spPr/>
        <p:txBody>
          <a:bodyPr/>
          <a:lstStyle/>
          <a:p>
            <a:endParaRPr lang="en-US"/>
          </a:p>
        </p:txBody>
      </p:sp>
      <p:sp>
        <p:nvSpPr>
          <p:cNvPr id="7" name="Rectangle 6">
            <a:extLst>
              <a:ext uri="{FF2B5EF4-FFF2-40B4-BE49-F238E27FC236}">
                <a16:creationId xmlns:a16="http://schemas.microsoft.com/office/drawing/2014/main" id="{4404A639-8DA6-E766-FEA5-D51ABFC1CF5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4F0B18-B7F3-3A87-DB88-CFBBCCF2B0CB}"/>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41A95-8FD7-6468-2DCA-E553CD143BC9}"/>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Empirical Results</a:t>
            </a:r>
          </a:p>
        </p:txBody>
      </p:sp>
      <p:sp>
        <p:nvSpPr>
          <p:cNvPr id="3" name="TextBox 2">
            <a:extLst>
              <a:ext uri="{FF2B5EF4-FFF2-40B4-BE49-F238E27FC236}">
                <a16:creationId xmlns:a16="http://schemas.microsoft.com/office/drawing/2014/main" id="{3E6275D1-D53C-74E2-55C9-A1870677098F}"/>
              </a:ext>
            </a:extLst>
          </p:cNvPr>
          <p:cNvSpPr txBox="1"/>
          <p:nvPr/>
        </p:nvSpPr>
        <p:spPr>
          <a:xfrm>
            <a:off x="439287" y="2803758"/>
            <a:ext cx="3467291" cy="1569660"/>
          </a:xfrm>
          <a:prstGeom prst="rect">
            <a:avLst/>
          </a:prstGeom>
          <a:noFill/>
        </p:spPr>
        <p:txBody>
          <a:bodyPr wrap="square" rtlCol="0">
            <a:spAutoFit/>
          </a:bodyPr>
          <a:lstStyle/>
          <a:p>
            <a:pPr>
              <a:buClr>
                <a:srgbClr val="000000"/>
              </a:buClr>
              <a:buFont typeface="Arial"/>
              <a:buNone/>
            </a:pPr>
            <a:r>
              <a:rPr lang="en-US" sz="2400" kern="0" dirty="0">
                <a:solidFill>
                  <a:schemeClr val="bg1">
                    <a:lumMod val="10000"/>
                  </a:schemeClr>
                </a:solidFill>
                <a:latin typeface="Times New Roman" panose="02020603050405020304" pitchFamily="18" charset="0"/>
                <a:ea typeface="Lato" panose="020F0502020204030203" pitchFamily="34" charset="0"/>
                <a:cs typeface="Times New Roman" panose="02020603050405020304" pitchFamily="18" charset="0"/>
                <a:sym typeface="Arial"/>
              </a:rPr>
              <a:t>Then, we run two regressions controlling for place of residence: rural and urban.</a:t>
            </a:r>
          </a:p>
        </p:txBody>
      </p:sp>
      <p:pic>
        <p:nvPicPr>
          <p:cNvPr id="14" name="Picture 13">
            <a:extLst>
              <a:ext uri="{FF2B5EF4-FFF2-40B4-BE49-F238E27FC236}">
                <a16:creationId xmlns:a16="http://schemas.microsoft.com/office/drawing/2014/main" id="{BB844727-0D9F-BCF0-7E2E-7FC937801E1C}"/>
              </a:ext>
            </a:extLst>
          </p:cNvPr>
          <p:cNvPicPr>
            <a:picLocks noChangeAspect="1"/>
          </p:cNvPicPr>
          <p:nvPr/>
        </p:nvPicPr>
        <p:blipFill>
          <a:blip r:embed="rId2"/>
          <a:stretch>
            <a:fillRect/>
          </a:stretch>
        </p:blipFill>
        <p:spPr>
          <a:xfrm>
            <a:off x="4308572" y="1828063"/>
            <a:ext cx="7444142" cy="4529652"/>
          </a:xfrm>
          <a:prstGeom prst="rect">
            <a:avLst/>
          </a:prstGeom>
        </p:spPr>
      </p:pic>
      <p:sp>
        <p:nvSpPr>
          <p:cNvPr id="15" name="TextBox 14">
            <a:extLst>
              <a:ext uri="{FF2B5EF4-FFF2-40B4-BE49-F238E27FC236}">
                <a16:creationId xmlns:a16="http://schemas.microsoft.com/office/drawing/2014/main" id="{5A254DDA-0717-D227-A670-67DCE9B23C9E}"/>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1"/>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9" name="Group 8">
            <a:extLst>
              <a:ext uri="{FF2B5EF4-FFF2-40B4-BE49-F238E27FC236}">
                <a16:creationId xmlns:a16="http://schemas.microsoft.com/office/drawing/2014/main" id="{954C1F07-CC95-6388-61A1-C248E2B81EDD}"/>
              </a:ext>
            </a:extLst>
          </p:cNvPr>
          <p:cNvGrpSpPr/>
          <p:nvPr/>
        </p:nvGrpSpPr>
        <p:grpSpPr>
          <a:xfrm>
            <a:off x="0" y="6488668"/>
            <a:ext cx="12192000" cy="369332"/>
            <a:chOff x="0" y="6488668"/>
            <a:chExt cx="12192000" cy="369332"/>
          </a:xfrm>
        </p:grpSpPr>
        <p:grpSp>
          <p:nvGrpSpPr>
            <p:cNvPr id="11" name="Group 10">
              <a:extLst>
                <a:ext uri="{FF2B5EF4-FFF2-40B4-BE49-F238E27FC236}">
                  <a16:creationId xmlns:a16="http://schemas.microsoft.com/office/drawing/2014/main" id="{CA85A549-B7BC-DB22-6C82-065483D24E07}"/>
                </a:ext>
              </a:extLst>
            </p:cNvPr>
            <p:cNvGrpSpPr/>
            <p:nvPr/>
          </p:nvGrpSpPr>
          <p:grpSpPr>
            <a:xfrm>
              <a:off x="0" y="6497514"/>
              <a:ext cx="12192000" cy="360486"/>
              <a:chOff x="0" y="6497514"/>
              <a:chExt cx="12192000" cy="360486"/>
            </a:xfrm>
          </p:grpSpPr>
          <p:sp>
            <p:nvSpPr>
              <p:cNvPr id="16" name="Rectangle 15">
                <a:extLst>
                  <a:ext uri="{FF2B5EF4-FFF2-40B4-BE49-F238E27FC236}">
                    <a16:creationId xmlns:a16="http://schemas.microsoft.com/office/drawing/2014/main" id="{CD546487-5EDF-D7DD-EFA8-239E8BB8E935}"/>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7" name="Rectangle 16">
                <a:extLst>
                  <a:ext uri="{FF2B5EF4-FFF2-40B4-BE49-F238E27FC236}">
                    <a16:creationId xmlns:a16="http://schemas.microsoft.com/office/drawing/2014/main" id="{D9433834-CD9D-8A41-4756-FECF93D0BB24}"/>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2" name="TextBox 11">
              <a:extLst>
                <a:ext uri="{FF2B5EF4-FFF2-40B4-BE49-F238E27FC236}">
                  <a16:creationId xmlns:a16="http://schemas.microsoft.com/office/drawing/2014/main" id="{30F0A82A-DD6E-C23B-C2AA-4D14926C3C6B}"/>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1441405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A66F-9018-BD54-BD98-FD0B4CEC23C2}"/>
              </a:ext>
            </a:extLst>
          </p:cNvPr>
          <p:cNvSpPr>
            <a:spLocks noGrp="1"/>
          </p:cNvSpPr>
          <p:nvPr>
            <p:ph type="title"/>
          </p:nvPr>
        </p:nvSpPr>
        <p:spPr/>
        <p:txBody>
          <a:bodyPr/>
          <a:lstStyle/>
          <a:p>
            <a:endParaRPr lang="en-US"/>
          </a:p>
        </p:txBody>
      </p:sp>
      <p:sp>
        <p:nvSpPr>
          <p:cNvPr id="7" name="Rectangle 6">
            <a:extLst>
              <a:ext uri="{FF2B5EF4-FFF2-40B4-BE49-F238E27FC236}">
                <a16:creationId xmlns:a16="http://schemas.microsoft.com/office/drawing/2014/main" id="{4404A639-8DA6-E766-FEA5-D51ABFC1CF5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4F0B18-B7F3-3A87-DB88-CFBBCCF2B0CB}"/>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41A95-8FD7-6468-2DCA-E553CD143BC9}"/>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Empirical Results</a:t>
            </a:r>
          </a:p>
        </p:txBody>
      </p:sp>
      <p:sp>
        <p:nvSpPr>
          <p:cNvPr id="3" name="TextBox 2">
            <a:extLst>
              <a:ext uri="{FF2B5EF4-FFF2-40B4-BE49-F238E27FC236}">
                <a16:creationId xmlns:a16="http://schemas.microsoft.com/office/drawing/2014/main" id="{3E6275D1-D53C-74E2-55C9-A1870677098F}"/>
              </a:ext>
            </a:extLst>
          </p:cNvPr>
          <p:cNvSpPr txBox="1"/>
          <p:nvPr/>
        </p:nvSpPr>
        <p:spPr>
          <a:xfrm>
            <a:off x="439287" y="2803758"/>
            <a:ext cx="3467291" cy="1569660"/>
          </a:xfrm>
          <a:prstGeom prst="rect">
            <a:avLst/>
          </a:prstGeom>
          <a:noFill/>
        </p:spPr>
        <p:txBody>
          <a:bodyPr wrap="square" rtlCol="0">
            <a:spAutoFit/>
          </a:bodyPr>
          <a:lstStyle/>
          <a:p>
            <a:r>
              <a:rPr lang="en-US" sz="2400" dirty="0">
                <a:solidFill>
                  <a:schemeClr val="bg1">
                    <a:lumMod val="10000"/>
                  </a:schemeClr>
                </a:solidFill>
                <a:latin typeface="Times New Roman" panose="02020603050405020304" pitchFamily="18" charset="0"/>
                <a:ea typeface="Lato" panose="020F0502020204030203" pitchFamily="34" charset="0"/>
                <a:cs typeface="Times New Roman" panose="02020603050405020304" pitchFamily="18" charset="0"/>
              </a:rPr>
              <a:t>Then, we run four regressions controlling for place of residence across gender.</a:t>
            </a:r>
          </a:p>
        </p:txBody>
      </p:sp>
      <p:pic>
        <p:nvPicPr>
          <p:cNvPr id="15" name="Picture 14">
            <a:extLst>
              <a:ext uri="{FF2B5EF4-FFF2-40B4-BE49-F238E27FC236}">
                <a16:creationId xmlns:a16="http://schemas.microsoft.com/office/drawing/2014/main" id="{B9BF0BF3-4EB3-F87F-802F-DCCE47571C3F}"/>
              </a:ext>
            </a:extLst>
          </p:cNvPr>
          <p:cNvPicPr>
            <a:picLocks noChangeAspect="1"/>
          </p:cNvPicPr>
          <p:nvPr/>
        </p:nvPicPr>
        <p:blipFill>
          <a:blip r:embed="rId2"/>
          <a:stretch>
            <a:fillRect/>
          </a:stretch>
        </p:blipFill>
        <p:spPr>
          <a:xfrm>
            <a:off x="4469230" y="1828063"/>
            <a:ext cx="6778949" cy="4528396"/>
          </a:xfrm>
          <a:prstGeom prst="rect">
            <a:avLst/>
          </a:prstGeom>
        </p:spPr>
      </p:pic>
      <p:sp>
        <p:nvSpPr>
          <p:cNvPr id="16" name="TextBox 15">
            <a:extLst>
              <a:ext uri="{FF2B5EF4-FFF2-40B4-BE49-F238E27FC236}">
                <a16:creationId xmlns:a16="http://schemas.microsoft.com/office/drawing/2014/main" id="{DA13E45F-99C6-1300-0F71-DD42A813C239}"/>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1"/>
                </a:solidFill>
                <a:latin typeface="Times New Roman" panose="02020603050405020304" pitchFamily="18" charset="0"/>
                <a:cs typeface="Times New Roman" panose="02020603050405020304" pitchFamily="18" charset="0"/>
              </a:rPr>
              <a:t>Empirical Results</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9" name="Group 8">
            <a:extLst>
              <a:ext uri="{FF2B5EF4-FFF2-40B4-BE49-F238E27FC236}">
                <a16:creationId xmlns:a16="http://schemas.microsoft.com/office/drawing/2014/main" id="{F02CE54F-132A-EA92-6327-6FE1DB1B2E81}"/>
              </a:ext>
            </a:extLst>
          </p:cNvPr>
          <p:cNvGrpSpPr/>
          <p:nvPr/>
        </p:nvGrpSpPr>
        <p:grpSpPr>
          <a:xfrm>
            <a:off x="0" y="6488668"/>
            <a:ext cx="12192000" cy="369332"/>
            <a:chOff x="0" y="6488668"/>
            <a:chExt cx="12192000" cy="369332"/>
          </a:xfrm>
        </p:grpSpPr>
        <p:grpSp>
          <p:nvGrpSpPr>
            <p:cNvPr id="11" name="Group 10">
              <a:extLst>
                <a:ext uri="{FF2B5EF4-FFF2-40B4-BE49-F238E27FC236}">
                  <a16:creationId xmlns:a16="http://schemas.microsoft.com/office/drawing/2014/main" id="{730FB303-69D2-3EB8-CB67-4BA50EAD35CD}"/>
                </a:ext>
              </a:extLst>
            </p:cNvPr>
            <p:cNvGrpSpPr/>
            <p:nvPr/>
          </p:nvGrpSpPr>
          <p:grpSpPr>
            <a:xfrm>
              <a:off x="0" y="6497514"/>
              <a:ext cx="12192000" cy="360486"/>
              <a:chOff x="0" y="6497514"/>
              <a:chExt cx="12192000" cy="360486"/>
            </a:xfrm>
          </p:grpSpPr>
          <p:sp>
            <p:nvSpPr>
              <p:cNvPr id="14" name="Rectangle 13">
                <a:extLst>
                  <a:ext uri="{FF2B5EF4-FFF2-40B4-BE49-F238E27FC236}">
                    <a16:creationId xmlns:a16="http://schemas.microsoft.com/office/drawing/2014/main" id="{39444F2B-F154-7F3E-52A0-5E9329D268CB}"/>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7" name="Rectangle 16">
                <a:extLst>
                  <a:ext uri="{FF2B5EF4-FFF2-40B4-BE49-F238E27FC236}">
                    <a16:creationId xmlns:a16="http://schemas.microsoft.com/office/drawing/2014/main" id="{A5F6CA52-A975-AFD3-23F5-2462049FD026}"/>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2" name="TextBox 11">
              <a:extLst>
                <a:ext uri="{FF2B5EF4-FFF2-40B4-BE49-F238E27FC236}">
                  <a16:creationId xmlns:a16="http://schemas.microsoft.com/office/drawing/2014/main" id="{9D9642A8-7B8C-E0F1-D653-477AF8A3EE0E}"/>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3459015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A66F-9018-BD54-BD98-FD0B4CEC23C2}"/>
              </a:ext>
            </a:extLst>
          </p:cNvPr>
          <p:cNvSpPr>
            <a:spLocks noGrp="1"/>
          </p:cNvSpPr>
          <p:nvPr>
            <p:ph type="title"/>
          </p:nvPr>
        </p:nvSpPr>
        <p:spPr/>
        <p:txBody>
          <a:bodyPr/>
          <a:lstStyle/>
          <a:p>
            <a:endParaRPr lang="en-US"/>
          </a:p>
        </p:txBody>
      </p:sp>
      <p:sp>
        <p:nvSpPr>
          <p:cNvPr id="7" name="Rectangle 6">
            <a:extLst>
              <a:ext uri="{FF2B5EF4-FFF2-40B4-BE49-F238E27FC236}">
                <a16:creationId xmlns:a16="http://schemas.microsoft.com/office/drawing/2014/main" id="{4404A639-8DA6-E766-FEA5-D51ABFC1CF5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4F0B18-B7F3-3A87-DB88-CFBBCCF2B0CB}"/>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41A95-8FD7-6468-2DCA-E553CD143BC9}"/>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3E6275D1-D53C-74E2-55C9-A1870677098F}"/>
              </a:ext>
            </a:extLst>
          </p:cNvPr>
          <p:cNvSpPr txBox="1"/>
          <p:nvPr/>
        </p:nvSpPr>
        <p:spPr>
          <a:xfrm>
            <a:off x="439287" y="2803758"/>
            <a:ext cx="11280273" cy="1938992"/>
          </a:xfrm>
          <a:prstGeom prst="rect">
            <a:avLst/>
          </a:prstGeom>
          <a:noFill/>
        </p:spPr>
        <p:txBody>
          <a:bodyPr wrap="square" rtlCol="0">
            <a:spAutoFit/>
          </a:bodyPr>
          <a:lstStyle/>
          <a:p>
            <a:pPr marL="342900" indent="-342900">
              <a:buFont typeface="Wingdings" panose="05000000000000000000" pitchFamily="2" charset="2"/>
              <a:buChar char="Ø"/>
            </a:pPr>
            <a:r>
              <a:rPr lang="en-US" sz="2400" dirty="0">
                <a:solidFill>
                  <a:schemeClr val="bg1">
                    <a:lumMod val="10000"/>
                  </a:schemeClr>
                </a:solidFill>
                <a:latin typeface="Times New Roman" panose="02020603050405020304" pitchFamily="18" charset="0"/>
                <a:ea typeface="Lato" panose="020F0502020204030203" pitchFamily="34" charset="0"/>
                <a:cs typeface="Times New Roman" panose="02020603050405020304" pitchFamily="18" charset="0"/>
              </a:rPr>
              <a:t>The negative correlation between climate change and migration imposes a critical point for researchers in the field.</a:t>
            </a:r>
          </a:p>
          <a:p>
            <a:pPr marL="342900" indent="-342900">
              <a:buFont typeface="Wingdings" panose="05000000000000000000" pitchFamily="2" charset="2"/>
              <a:buChar char="Ø"/>
            </a:pPr>
            <a:endParaRPr lang="en-US" sz="2400" dirty="0">
              <a:solidFill>
                <a:schemeClr val="bg1">
                  <a:lumMod val="10000"/>
                </a:schemeClr>
              </a:solidFill>
              <a:latin typeface="Times New Roman" panose="02020603050405020304" pitchFamily="18" charset="0"/>
              <a:ea typeface="Lato" panose="020F0502020204030203" pitchFamily="34" charset="0"/>
              <a:cs typeface="Times New Roman" panose="02020603050405020304" pitchFamily="18" charset="0"/>
            </a:endParaRPr>
          </a:p>
          <a:p>
            <a:pPr marL="342900" indent="-342900">
              <a:buFont typeface="Wingdings" panose="05000000000000000000" pitchFamily="2" charset="2"/>
              <a:buChar char="Ø"/>
            </a:pPr>
            <a:r>
              <a:rPr lang="en-US" sz="2400" dirty="0">
                <a:solidFill>
                  <a:schemeClr val="bg1">
                    <a:lumMod val="10000"/>
                  </a:schemeClr>
                </a:solidFill>
                <a:latin typeface="Times New Roman" panose="02020603050405020304" pitchFamily="18" charset="0"/>
                <a:ea typeface="Lato" panose="020F0502020204030203" pitchFamily="34" charset="0"/>
                <a:cs typeface="Times New Roman" panose="02020603050405020304" pitchFamily="18" charset="0"/>
              </a:rPr>
              <a:t>The results show the dominance of certain socio-demographic factors (income and residence) on the correlation between climate change and migration</a:t>
            </a:r>
          </a:p>
        </p:txBody>
      </p:sp>
      <p:sp>
        <p:nvSpPr>
          <p:cNvPr id="12" name="TextBox 11">
            <a:extLst>
              <a:ext uri="{FF2B5EF4-FFF2-40B4-BE49-F238E27FC236}">
                <a16:creationId xmlns:a16="http://schemas.microsoft.com/office/drawing/2014/main" id="{66923DCE-E304-B1EE-8F3C-187A276F579A}"/>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1"/>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grpSp>
        <p:nvGrpSpPr>
          <p:cNvPr id="9" name="Group 8">
            <a:extLst>
              <a:ext uri="{FF2B5EF4-FFF2-40B4-BE49-F238E27FC236}">
                <a16:creationId xmlns:a16="http://schemas.microsoft.com/office/drawing/2014/main" id="{0BEA6E7E-8AC9-6F67-7F0B-C03B6EF01E15}"/>
              </a:ext>
            </a:extLst>
          </p:cNvPr>
          <p:cNvGrpSpPr/>
          <p:nvPr/>
        </p:nvGrpSpPr>
        <p:grpSpPr>
          <a:xfrm>
            <a:off x="0" y="6488668"/>
            <a:ext cx="12192000" cy="369332"/>
            <a:chOff x="0" y="6488668"/>
            <a:chExt cx="12192000" cy="369332"/>
          </a:xfrm>
        </p:grpSpPr>
        <p:grpSp>
          <p:nvGrpSpPr>
            <p:cNvPr id="11" name="Group 10">
              <a:extLst>
                <a:ext uri="{FF2B5EF4-FFF2-40B4-BE49-F238E27FC236}">
                  <a16:creationId xmlns:a16="http://schemas.microsoft.com/office/drawing/2014/main" id="{6CBB259A-B1E8-BC9B-97D9-AA3B7A0670A5}"/>
                </a:ext>
              </a:extLst>
            </p:cNvPr>
            <p:cNvGrpSpPr/>
            <p:nvPr/>
          </p:nvGrpSpPr>
          <p:grpSpPr>
            <a:xfrm>
              <a:off x="0" y="6497514"/>
              <a:ext cx="12192000" cy="360486"/>
              <a:chOff x="0" y="6497514"/>
              <a:chExt cx="12192000" cy="360486"/>
            </a:xfrm>
          </p:grpSpPr>
          <p:sp>
            <p:nvSpPr>
              <p:cNvPr id="14" name="Rectangle 13">
                <a:extLst>
                  <a:ext uri="{FF2B5EF4-FFF2-40B4-BE49-F238E27FC236}">
                    <a16:creationId xmlns:a16="http://schemas.microsoft.com/office/drawing/2014/main" id="{6EAA28F4-9C40-58F7-D1BD-CF041D02DC9F}"/>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Climate Change and Migration</a:t>
                </a:r>
              </a:p>
            </p:txBody>
          </p:sp>
          <p:sp>
            <p:nvSpPr>
              <p:cNvPr id="15" name="Rectangle 14">
                <a:extLst>
                  <a:ext uri="{FF2B5EF4-FFF2-40B4-BE49-F238E27FC236}">
                    <a16:creationId xmlns:a16="http://schemas.microsoft.com/office/drawing/2014/main" id="{916A0EFF-6C8A-3EFA-9CC8-78B36FB37813}"/>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13" name="TextBox 12">
              <a:extLst>
                <a:ext uri="{FF2B5EF4-FFF2-40B4-BE49-F238E27FC236}">
                  <a16:creationId xmlns:a16="http://schemas.microsoft.com/office/drawing/2014/main" id="{344DF299-2350-72BD-09B1-01D6DE5998EB}"/>
                </a:ext>
              </a:extLst>
            </p:cNvPr>
            <p:cNvSpPr txBox="1"/>
            <p:nvPr/>
          </p:nvSpPr>
          <p:spPr>
            <a:xfrm>
              <a:off x="1552951" y="6488668"/>
              <a:ext cx="2086983" cy="369332"/>
            </a:xfrm>
            <a:prstGeom prst="rect">
              <a:avLst/>
            </a:prstGeom>
            <a:noFill/>
          </p:spPr>
          <p:txBody>
            <a:bodyPr wrap="square" rtlCol="0">
              <a:spAutoFit/>
            </a:bodyPr>
            <a:lstStyle/>
            <a:p>
              <a:pPr algn="ctr"/>
              <a:r>
                <a:rPr lang="en-US" dirty="0">
                  <a:solidFill>
                    <a:schemeClr val="bg1"/>
                  </a:solidFill>
                  <a:latin typeface="Times New Roman" panose="02020603050405020304" pitchFamily="18" charset="0"/>
                  <a:cs typeface="Times New Roman" panose="02020603050405020304" pitchFamily="18" charset="0"/>
                </a:rPr>
                <a:t>Rawan Al Gharib</a:t>
              </a:r>
            </a:p>
          </p:txBody>
        </p:sp>
      </p:grpSp>
    </p:spTree>
    <p:extLst>
      <p:ext uri="{BB962C8B-B14F-4D97-AF65-F5344CB8AC3E}">
        <p14:creationId xmlns:p14="http://schemas.microsoft.com/office/powerpoint/2010/main" val="3421871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CA66F-9018-BD54-BD98-FD0B4CEC23C2}"/>
              </a:ext>
            </a:extLst>
          </p:cNvPr>
          <p:cNvSpPr>
            <a:spLocks noGrp="1"/>
          </p:cNvSpPr>
          <p:nvPr>
            <p:ph type="title"/>
          </p:nvPr>
        </p:nvSpPr>
        <p:spPr/>
        <p:txBody>
          <a:bodyPr/>
          <a:lstStyle/>
          <a:p>
            <a:endParaRPr lang="en-US"/>
          </a:p>
        </p:txBody>
      </p:sp>
      <p:grpSp>
        <p:nvGrpSpPr>
          <p:cNvPr id="4" name="Group 3">
            <a:extLst>
              <a:ext uri="{FF2B5EF4-FFF2-40B4-BE49-F238E27FC236}">
                <a16:creationId xmlns:a16="http://schemas.microsoft.com/office/drawing/2014/main" id="{0008F6FA-C030-123E-7FDE-7BA1C6EBC853}"/>
              </a:ext>
            </a:extLst>
          </p:cNvPr>
          <p:cNvGrpSpPr/>
          <p:nvPr/>
        </p:nvGrpSpPr>
        <p:grpSpPr>
          <a:xfrm>
            <a:off x="0" y="6497514"/>
            <a:ext cx="12192000" cy="360486"/>
            <a:chOff x="0" y="6497514"/>
            <a:chExt cx="12192000" cy="360486"/>
          </a:xfrm>
        </p:grpSpPr>
        <p:sp>
          <p:nvSpPr>
            <p:cNvPr id="5" name="Rectangle 4">
              <a:extLst>
                <a:ext uri="{FF2B5EF4-FFF2-40B4-BE49-F238E27FC236}">
                  <a16:creationId xmlns:a16="http://schemas.microsoft.com/office/drawing/2014/main" id="{D11B3256-41E0-64CC-A8D9-E5207DFFBF34}"/>
                </a:ext>
              </a:extLst>
            </p:cNvPr>
            <p:cNvSpPr/>
            <p:nvPr/>
          </p:nvSpPr>
          <p:spPr>
            <a:xfrm>
              <a:off x="6096000" y="6497515"/>
              <a:ext cx="6096000" cy="360485"/>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0F02018-E367-3797-6BAC-C7AC8CB61377}"/>
                </a:ext>
              </a:extLst>
            </p:cNvPr>
            <p:cNvSpPr/>
            <p:nvPr/>
          </p:nvSpPr>
          <p:spPr>
            <a:xfrm>
              <a:off x="0" y="6497514"/>
              <a:ext cx="6096000" cy="360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grpSp>
      <p:sp>
        <p:nvSpPr>
          <p:cNvPr id="7" name="Rectangle 6">
            <a:extLst>
              <a:ext uri="{FF2B5EF4-FFF2-40B4-BE49-F238E27FC236}">
                <a16:creationId xmlns:a16="http://schemas.microsoft.com/office/drawing/2014/main" id="{4404A639-8DA6-E766-FEA5-D51ABFC1CF58}"/>
              </a:ext>
            </a:extLst>
          </p:cNvPr>
          <p:cNvSpPr/>
          <p:nvPr/>
        </p:nvSpPr>
        <p:spPr>
          <a:xfrm>
            <a:off x="0" y="0"/>
            <a:ext cx="6096000" cy="124948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4F0B18-B7F3-3A87-DB88-CFBBCCF2B0CB}"/>
              </a:ext>
            </a:extLst>
          </p:cNvPr>
          <p:cNvSpPr/>
          <p:nvPr/>
        </p:nvSpPr>
        <p:spPr>
          <a:xfrm>
            <a:off x="6096000" y="0"/>
            <a:ext cx="6096000" cy="1249486"/>
          </a:xfrm>
          <a:prstGeom prst="rect">
            <a:avLst/>
          </a:prstGeom>
          <a:solidFill>
            <a:srgbClr val="2E409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541A95-8FD7-6468-2DCA-E553CD143BC9}"/>
              </a:ext>
            </a:extLst>
          </p:cNvPr>
          <p:cNvSpPr/>
          <p:nvPr/>
        </p:nvSpPr>
        <p:spPr>
          <a:xfrm>
            <a:off x="0" y="1249486"/>
            <a:ext cx="12192000" cy="441202"/>
          </a:xfrm>
          <a:prstGeom prst="rect">
            <a:avLst/>
          </a:prstGeom>
          <a:solidFill>
            <a:srgbClr val="2E4098"/>
          </a:solidFill>
          <a:ln>
            <a:solidFill>
              <a:srgbClr val="2E40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3E6275D1-D53C-74E2-55C9-A1870677098F}"/>
              </a:ext>
            </a:extLst>
          </p:cNvPr>
          <p:cNvSpPr txBox="1"/>
          <p:nvPr/>
        </p:nvSpPr>
        <p:spPr>
          <a:xfrm>
            <a:off x="455863" y="2498972"/>
            <a:ext cx="11280273" cy="3416320"/>
          </a:xfrm>
          <a:prstGeom prst="rect">
            <a:avLst/>
          </a:prstGeom>
          <a:noFill/>
        </p:spPr>
        <p:txBody>
          <a:bodyPr wrap="square" rtlCol="0">
            <a:spAutoFit/>
          </a:bodyPr>
          <a:lstStyle/>
          <a:p>
            <a:r>
              <a:rPr lang="en-US" sz="2400" b="1" dirty="0">
                <a:solidFill>
                  <a:schemeClr val="bg1">
                    <a:lumMod val="10000"/>
                  </a:schemeClr>
                </a:solidFill>
                <a:latin typeface="Times New Roman" panose="02020603050405020304" pitchFamily="18" charset="0"/>
                <a:cs typeface="Times New Roman" panose="02020603050405020304" pitchFamily="18" charset="0"/>
              </a:rPr>
              <a:t>Recommendations:</a:t>
            </a:r>
          </a:p>
          <a:p>
            <a:endParaRPr lang="en-US" sz="2400" b="1" dirty="0">
              <a:solidFill>
                <a:schemeClr val="bg1">
                  <a:lumMod val="10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dirty="0">
                <a:solidFill>
                  <a:schemeClr val="bg1">
                    <a:lumMod val="10000"/>
                  </a:schemeClr>
                </a:solidFill>
                <a:latin typeface="Times New Roman" panose="02020603050405020304" pitchFamily="18" charset="0"/>
                <a:cs typeface="Times New Roman" panose="02020603050405020304" pitchFamily="18" charset="0"/>
              </a:rPr>
              <a:t>Government promoting green energy and combating short-lived climate pollutants</a:t>
            </a:r>
          </a:p>
          <a:p>
            <a:pPr marL="342900" indent="-342900">
              <a:buFont typeface="Wingdings" panose="05000000000000000000" pitchFamily="2" charset="2"/>
              <a:buChar char="Ø"/>
            </a:pPr>
            <a:r>
              <a:rPr lang="en-US" sz="2400" dirty="0">
                <a:solidFill>
                  <a:schemeClr val="bg1">
                    <a:lumMod val="10000"/>
                  </a:schemeClr>
                </a:solidFill>
                <a:latin typeface="Times New Roman" panose="02020603050405020304" pitchFamily="18" charset="0"/>
                <a:cs typeface="Times New Roman" panose="02020603050405020304" pitchFamily="18" charset="0"/>
              </a:rPr>
              <a:t>Disaggregated data is recommended to implement gender-responsive climate policies to mitigate the inequality in the effect of climate change</a:t>
            </a:r>
          </a:p>
          <a:p>
            <a:endParaRPr lang="en-US" sz="2400" dirty="0">
              <a:solidFill>
                <a:schemeClr val="bg1">
                  <a:lumMod val="10000"/>
                </a:schemeClr>
              </a:solidFill>
              <a:latin typeface="Times New Roman" panose="02020603050405020304" pitchFamily="18" charset="0"/>
              <a:cs typeface="Times New Roman" panose="02020603050405020304" pitchFamily="18" charset="0"/>
            </a:endParaRPr>
          </a:p>
          <a:p>
            <a:r>
              <a:rPr lang="en-US" sz="2400" dirty="0">
                <a:solidFill>
                  <a:schemeClr val="bg1">
                    <a:lumMod val="10000"/>
                  </a:schemeClr>
                </a:solidFill>
                <a:latin typeface="Times New Roman" panose="02020603050405020304" pitchFamily="18" charset="0"/>
                <a:cs typeface="Times New Roman" panose="02020603050405020304" pitchFamily="18" charset="0"/>
              </a:rPr>
              <a:t>Future research on the topic of climate change and migration is fundamental to create evidence that permits for designing better policies. </a:t>
            </a:r>
          </a:p>
          <a:p>
            <a:endParaRPr lang="en-US" sz="2400" dirty="0">
              <a:solidFill>
                <a:schemeClr val="bg1">
                  <a:lumMod val="10000"/>
                </a:schemeClr>
              </a:solidFill>
              <a:latin typeface="Lilita One" panose="020B0604020202020204" charset="0"/>
              <a:ea typeface="Lato" panose="020F0502020204030203" pitchFamily="34" charset="0"/>
              <a:cs typeface="Lato" panose="020F0502020204030203" pitchFamily="34" charset="0"/>
            </a:endParaRPr>
          </a:p>
        </p:txBody>
      </p:sp>
      <p:sp>
        <p:nvSpPr>
          <p:cNvPr id="12" name="TextBox 11">
            <a:extLst>
              <a:ext uri="{FF2B5EF4-FFF2-40B4-BE49-F238E27FC236}">
                <a16:creationId xmlns:a16="http://schemas.microsoft.com/office/drawing/2014/main" id="{BA6322C3-736A-7DF6-CB56-B96E2F0ADF04}"/>
              </a:ext>
            </a:extLst>
          </p:cNvPr>
          <p:cNvSpPr txBox="1"/>
          <p:nvPr/>
        </p:nvSpPr>
        <p:spPr>
          <a:xfrm>
            <a:off x="2846716" y="54464"/>
            <a:ext cx="3249284" cy="1400383"/>
          </a:xfrm>
          <a:prstGeom prst="rect">
            <a:avLst/>
          </a:prstGeom>
          <a:noFill/>
        </p:spPr>
        <p:txBody>
          <a:bodyPr wrap="square" rtlCol="0">
            <a:spAutoFit/>
          </a:bodyPr>
          <a:lstStyle/>
          <a:p>
            <a:pPr algn="r"/>
            <a:r>
              <a:rPr lang="en-US" sz="1100" b="1" dirty="0">
                <a:solidFill>
                  <a:schemeClr val="bg2">
                    <a:lumMod val="50000"/>
                  </a:schemeClr>
                </a:solidFill>
                <a:latin typeface="Times New Roman" panose="02020603050405020304" pitchFamily="18" charset="0"/>
                <a:cs typeface="Times New Roman" panose="02020603050405020304" pitchFamily="18" charset="0"/>
              </a:rPr>
              <a:t>Outline</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Introduction</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Data</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Model</a:t>
            </a:r>
          </a:p>
          <a:p>
            <a:pPr algn="r"/>
            <a:r>
              <a:rPr lang="en-US" sz="1100" dirty="0">
                <a:solidFill>
                  <a:schemeClr val="bg2">
                    <a:lumMod val="50000"/>
                  </a:schemeClr>
                </a:solidFill>
                <a:latin typeface="Times New Roman" panose="02020603050405020304" pitchFamily="18" charset="0"/>
                <a:cs typeface="Times New Roman" panose="02020603050405020304" pitchFamily="18" charset="0"/>
              </a:rPr>
              <a:t>Empirical Results</a:t>
            </a:r>
          </a:p>
          <a:p>
            <a:pPr algn="r"/>
            <a:r>
              <a:rPr lang="en-US" sz="1100" dirty="0">
                <a:solidFill>
                  <a:schemeClr val="bg1"/>
                </a:solidFill>
                <a:latin typeface="Times New Roman" panose="02020603050405020304" pitchFamily="18" charset="0"/>
                <a:cs typeface="Times New Roman" panose="02020603050405020304" pitchFamily="18" charset="0"/>
              </a:rPr>
              <a:t>Conclusion</a:t>
            </a:r>
            <a:r>
              <a:rPr lang="en-US" sz="1200" dirty="0">
                <a:solidFill>
                  <a:schemeClr val="bg2">
                    <a:lumMod val="50000"/>
                  </a:schemeClr>
                </a:solidFill>
                <a:latin typeface="Times New Roman" panose="02020603050405020304" pitchFamily="18" charset="0"/>
                <a:cs typeface="Times New Roman" panose="02020603050405020304" pitchFamily="18" charset="0"/>
              </a:rPr>
              <a:t> </a:t>
            </a:r>
          </a:p>
          <a:p>
            <a:r>
              <a:rPr lang="en-US" sz="1200" dirty="0">
                <a:solidFill>
                  <a:schemeClr val="bg2"/>
                </a:solidFill>
              </a:rPr>
              <a:t> </a:t>
            </a:r>
            <a:r>
              <a:rPr lang="en-US" dirty="0">
                <a:solidFill>
                  <a:schemeClr val="bg2"/>
                </a:solidFill>
              </a:rPr>
              <a:t> </a:t>
            </a:r>
          </a:p>
        </p:txBody>
      </p:sp>
    </p:spTree>
    <p:extLst>
      <p:ext uri="{BB962C8B-B14F-4D97-AF65-F5344CB8AC3E}">
        <p14:creationId xmlns:p14="http://schemas.microsoft.com/office/powerpoint/2010/main" val="776181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2407</TotalTime>
  <Words>1727</Words>
  <Application>Microsoft Office PowerPoint</Application>
  <PresentationFormat>Widescreen</PresentationFormat>
  <Paragraphs>386</Paragraphs>
  <Slides>17</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Cambria Math</vt:lpstr>
      <vt:lpstr>Lilita One</vt:lpstr>
      <vt:lpstr>Times New Roman</vt:lpstr>
      <vt:lpstr>Wingdings</vt:lpstr>
      <vt:lpstr>Office Theme</vt:lpstr>
      <vt:lpstr> Is Climate Change a Key Factor Affecting Migration?  Evidence from the MENA Region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Framework to Compare Environmental Policies</dc:title>
  <dc:creator>Michael Ibrahim Fheili</dc:creator>
  <cp:lastModifiedBy>Rawan Al Gharib</cp:lastModifiedBy>
  <cp:revision>241</cp:revision>
  <dcterms:created xsi:type="dcterms:W3CDTF">2023-03-19T13:12:32Z</dcterms:created>
  <dcterms:modified xsi:type="dcterms:W3CDTF">2026-03-08T18:44:41Z</dcterms:modified>
</cp:coreProperties>
</file>